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068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4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563EB"/>
          </a:solidFill>
          <a:ln w="12700">
            <a:solidFill>
              <a:srgbClr val="2563EB"/>
            </a:solidFill>
            <a:prstDash val="solid"/>
          </a:ln>
        </p:spPr>
        <p:txBody>
          <a:bodyPr/>
          <a:lstStyle/>
          <a:p>
            <a:endParaRPr lang="fr-FR"/>
          </a:p>
        </p:txBody>
      </p:sp>
      <p:sp>
        <p:nvSpPr>
          <p:cNvPr id="3" name="Shape 1"/>
          <p:cNvSpPr/>
          <p:nvPr/>
        </p:nvSpPr>
        <p:spPr>
          <a:xfrm>
            <a:off x="7772400" y="3474720"/>
            <a:ext cx="1645920" cy="1645920"/>
          </a:xfrm>
          <a:prstGeom prst="rect">
            <a:avLst/>
          </a:prstGeom>
          <a:solidFill>
            <a:srgbClr val="1D4ED8">
              <a:alpha val="20000"/>
            </a:srgbClr>
          </a:solidFill>
          <a:ln w="12700">
            <a:solidFill>
              <a:srgbClr val="FFFFFF">
                <a:alpha val="15000"/>
              </a:srgbClr>
            </a:solidFill>
            <a:prstDash val="solid"/>
          </a:ln>
        </p:spPr>
        <p:txBody>
          <a:bodyPr/>
          <a:lstStyle/>
          <a:p>
            <a:endParaRPr lang="fr-FR"/>
          </a:p>
        </p:txBody>
      </p:sp>
      <p:sp>
        <p:nvSpPr>
          <p:cNvPr id="4" name="Shape 2"/>
          <p:cNvSpPr/>
          <p:nvPr/>
        </p:nvSpPr>
        <p:spPr>
          <a:xfrm>
            <a:off x="8138160" y="3840480"/>
            <a:ext cx="1005840" cy="1005840"/>
          </a:xfrm>
          <a:prstGeom prst="rect">
            <a:avLst/>
          </a:prstGeom>
          <a:solidFill>
            <a:srgbClr val="2563EB">
              <a:alpha val="30000"/>
            </a:srgbClr>
          </a:solidFill>
          <a:ln w="12700">
            <a:solidFill>
              <a:srgbClr val="FFFFFF">
                <a:alpha val="20000"/>
              </a:srgbClr>
            </a:solidFill>
            <a:prstDash val="solid"/>
          </a:ln>
        </p:spPr>
        <p:txBody>
          <a:bodyPr/>
          <a:lstStyle/>
          <a:p>
            <a:endParaRPr lang="fr-FR"/>
          </a:p>
        </p:txBody>
      </p:sp>
      <p:sp>
        <p:nvSpPr>
          <p:cNvPr id="5" name="Text 3"/>
          <p:cNvSpPr/>
          <p:nvPr/>
        </p:nvSpPr>
        <p:spPr>
          <a:xfrm>
            <a:off x="457200" y="502920"/>
            <a:ext cx="8229600" cy="320040"/>
          </a:xfrm>
          <a:prstGeom prst="rect">
            <a:avLst/>
          </a:prstGeom>
          <a:noFill/>
          <a:ln/>
        </p:spPr>
        <p:txBody>
          <a:bodyPr wrap="square" rtlCol="0" anchor="ctr"/>
          <a:lstStyle/>
          <a:p>
            <a:pPr marL="0" indent="0">
              <a:buNone/>
            </a:pPr>
            <a:r>
              <a:rPr lang="en-US" sz="900" kern="0" spc="200" dirty="0">
                <a:solidFill>
                  <a:srgbClr val="BFDBFE"/>
                </a:solidFill>
                <a:latin typeface="Calibri" pitchFamily="34" charset="0"/>
                <a:ea typeface="Calibri" pitchFamily="34" charset="-122"/>
                <a:cs typeface="Calibri" pitchFamily="34" charset="-120"/>
              </a:rPr>
              <a:t>ECE PARIS  ·  INTELLIGENCE ARTIFICIELLE FINANCE  ·  PROJET 2  ·  2026</a:t>
            </a:r>
            <a:endParaRPr lang="en-US" sz="900" dirty="0"/>
          </a:p>
        </p:txBody>
      </p:sp>
      <p:sp>
        <p:nvSpPr>
          <p:cNvPr id="6" name="Text 4"/>
          <p:cNvSpPr/>
          <p:nvPr/>
        </p:nvSpPr>
        <p:spPr>
          <a:xfrm>
            <a:off x="457200" y="1051560"/>
            <a:ext cx="8229600" cy="822960"/>
          </a:xfrm>
          <a:prstGeom prst="rect">
            <a:avLst/>
          </a:prstGeom>
          <a:noFill/>
          <a:ln/>
        </p:spPr>
        <p:txBody>
          <a:bodyPr wrap="square" rtlCol="0" anchor="ctr"/>
          <a:lstStyle/>
          <a:p>
            <a:pPr marL="0" indent="0">
              <a:buNone/>
            </a:pPr>
            <a:r>
              <a:rPr lang="en-US" sz="5200" b="1" dirty="0">
                <a:solidFill>
                  <a:srgbClr val="FFFFFF"/>
                </a:solidFill>
                <a:latin typeface="Calibri Light" pitchFamily="34" charset="0"/>
                <a:ea typeface="Calibri Light" pitchFamily="34" charset="-122"/>
                <a:cs typeface="Calibri Light" pitchFamily="34" charset="-120"/>
              </a:rPr>
              <a:t>Credit Scoring</a:t>
            </a:r>
            <a:endParaRPr lang="en-US" sz="5200" dirty="0"/>
          </a:p>
        </p:txBody>
      </p:sp>
      <p:sp>
        <p:nvSpPr>
          <p:cNvPr id="7" name="Text 5"/>
          <p:cNvSpPr/>
          <p:nvPr/>
        </p:nvSpPr>
        <p:spPr>
          <a:xfrm>
            <a:off x="457200" y="1783080"/>
            <a:ext cx="8229600" cy="594360"/>
          </a:xfrm>
          <a:prstGeom prst="rect">
            <a:avLst/>
          </a:prstGeom>
          <a:noFill/>
          <a:ln/>
        </p:spPr>
        <p:txBody>
          <a:bodyPr wrap="square" rtlCol="0" anchor="ctr"/>
          <a:lstStyle/>
          <a:p>
            <a:pPr marL="0" indent="0">
              <a:buNone/>
            </a:pPr>
            <a:r>
              <a:rPr lang="en-US" sz="3000" dirty="0">
                <a:solidFill>
                  <a:srgbClr val="BFDBFE"/>
                </a:solidFill>
                <a:latin typeface="Calibri Light" pitchFamily="34" charset="0"/>
                <a:ea typeface="Calibri Light" pitchFamily="34" charset="-122"/>
                <a:cs typeface="Calibri Light" pitchFamily="34" charset="-120"/>
              </a:rPr>
              <a:t>avec IA Explicable (XAI)</a:t>
            </a:r>
            <a:endParaRPr lang="en-US" sz="3000" dirty="0"/>
          </a:p>
        </p:txBody>
      </p:sp>
      <p:sp>
        <p:nvSpPr>
          <p:cNvPr id="8" name="Shape 6"/>
          <p:cNvSpPr/>
          <p:nvPr/>
        </p:nvSpPr>
        <p:spPr>
          <a:xfrm>
            <a:off x="457200" y="2542032"/>
            <a:ext cx="2926080" cy="36576"/>
          </a:xfrm>
          <a:prstGeom prst="rect">
            <a:avLst/>
          </a:prstGeom>
          <a:solidFill>
            <a:srgbClr val="2563EB"/>
          </a:solidFill>
          <a:ln w="12700">
            <a:solidFill>
              <a:srgbClr val="2563EB"/>
            </a:solidFill>
            <a:prstDash val="solid"/>
          </a:ln>
        </p:spPr>
        <p:txBody>
          <a:bodyPr/>
          <a:lstStyle/>
          <a:p>
            <a:endParaRPr lang="fr-FR"/>
          </a:p>
        </p:txBody>
      </p:sp>
      <p:sp>
        <p:nvSpPr>
          <p:cNvPr id="9" name="Text 7"/>
          <p:cNvSpPr/>
          <p:nvPr/>
        </p:nvSpPr>
        <p:spPr>
          <a:xfrm>
            <a:off x="457200" y="2697480"/>
            <a:ext cx="7315200" cy="685800"/>
          </a:xfrm>
          <a:prstGeom prst="rect">
            <a:avLst/>
          </a:prstGeom>
          <a:noFill/>
          <a:ln/>
        </p:spPr>
        <p:txBody>
          <a:bodyPr wrap="square" rtlCol="0" anchor="ctr"/>
          <a:lstStyle/>
          <a:p>
            <a:pPr marL="0" indent="0">
              <a:buNone/>
            </a:pPr>
            <a:r>
              <a:rPr lang="en-US" sz="1300" dirty="0">
                <a:solidFill>
                  <a:srgbClr val="94A3B8"/>
                </a:solidFill>
                <a:latin typeface="Calibri" pitchFamily="34" charset="0"/>
                <a:ea typeface="Calibri" pitchFamily="34" charset="-122"/>
                <a:cs typeface="Calibri" pitchFamily="34" charset="-120"/>
              </a:rPr>
              <a:t>Prédiction du risque de crédit — Explicabilité SHAP &amp; LIME</a:t>
            </a:r>
            <a:endParaRPr lang="en-US" sz="1300" dirty="0"/>
          </a:p>
          <a:p>
            <a:pPr marL="0" indent="0">
              <a:buNone/>
            </a:pPr>
            <a:r>
              <a:rPr lang="en-US" sz="1300" dirty="0">
                <a:solidFill>
                  <a:srgbClr val="94A3B8"/>
                </a:solidFill>
                <a:latin typeface="Calibri" pitchFamily="34" charset="0"/>
                <a:ea typeface="Calibri" pitchFamily="34" charset="-122"/>
                <a:cs typeface="Calibri" pitchFamily="34" charset="-120"/>
              </a:rPr>
              <a:t>Audit de biais Fairlearn — Dashboard interactif Gradio</a:t>
            </a:r>
            <a:endParaRPr lang="en-US" sz="1300" dirty="0"/>
          </a:p>
        </p:txBody>
      </p:sp>
      <p:sp>
        <p:nvSpPr>
          <p:cNvPr id="10" name="Text 8"/>
          <p:cNvSpPr/>
          <p:nvPr/>
        </p:nvSpPr>
        <p:spPr>
          <a:xfrm>
            <a:off x="457200" y="3611880"/>
            <a:ext cx="457200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Robin Lamy</a:t>
            </a:r>
            <a:endParaRPr lang="en-US" sz="1500" dirty="0"/>
          </a:p>
        </p:txBody>
      </p:sp>
      <p:sp>
        <p:nvSpPr>
          <p:cNvPr id="11" name="Text 9"/>
          <p:cNvSpPr/>
          <p:nvPr/>
        </p:nvSpPr>
        <p:spPr>
          <a:xfrm>
            <a:off x="457200" y="3931920"/>
            <a:ext cx="4572000" cy="32004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ING4 Finance IA  ·  ECE Paris  ·  Groupe 02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201168"/>
            <a:ext cx="54864" cy="292608"/>
          </a:xfrm>
          <a:prstGeom prst="rect">
            <a:avLst/>
          </a:prstGeom>
          <a:solidFill>
            <a:srgbClr val="1D4ED8"/>
          </a:solidFill>
          <a:ln w="12700">
            <a:solidFill>
              <a:srgbClr val="1D4ED8"/>
            </a:solidFill>
            <a:prstDash val="solid"/>
          </a:ln>
        </p:spPr>
        <p:txBody>
          <a:bodyPr/>
          <a:lstStyle/>
          <a:p>
            <a:endParaRPr lang="fr-FR"/>
          </a:p>
        </p:txBody>
      </p:sp>
      <p:sp>
        <p:nvSpPr>
          <p:cNvPr id="3" name="Text 1"/>
          <p:cNvSpPr/>
          <p:nvPr/>
        </p:nvSpPr>
        <p:spPr>
          <a:xfrm>
            <a:off x="502920" y="201168"/>
            <a:ext cx="3657600" cy="292608"/>
          </a:xfrm>
          <a:prstGeom prst="rect">
            <a:avLst/>
          </a:prstGeom>
          <a:noFill/>
          <a:ln/>
        </p:spPr>
        <p:txBody>
          <a:bodyPr wrap="square" lIns="0" tIns="0" rIns="0" bIns="0" rtlCol="0" anchor="ctr"/>
          <a:lstStyle/>
          <a:p>
            <a:pPr marL="0" indent="0">
              <a:buNone/>
            </a:pPr>
            <a:r>
              <a:rPr lang="en-US" sz="900" b="1" kern="0" spc="200" dirty="0">
                <a:solidFill>
                  <a:srgbClr val="1D4ED8"/>
                </a:solidFill>
                <a:latin typeface="Calibri" pitchFamily="34" charset="0"/>
                <a:ea typeface="Calibri" pitchFamily="34" charset="-122"/>
                <a:cs typeface="Calibri" pitchFamily="34" charset="-120"/>
              </a:rPr>
              <a:t>PLAN DE LA PRÉSENTATION</a:t>
            </a:r>
            <a:endParaRPr lang="en-US" sz="900" dirty="0"/>
          </a:p>
        </p:txBody>
      </p:sp>
      <p:sp>
        <p:nvSpPr>
          <p:cNvPr id="4" name="Text 2"/>
          <p:cNvSpPr/>
          <p:nvPr/>
        </p:nvSpPr>
        <p:spPr>
          <a:xfrm>
            <a:off x="365760" y="548640"/>
            <a:ext cx="8229600" cy="502920"/>
          </a:xfrm>
          <a:prstGeom prst="rect">
            <a:avLst/>
          </a:prstGeom>
          <a:noFill/>
          <a:ln/>
        </p:spPr>
        <p:txBody>
          <a:bodyPr wrap="square" rtlCol="0" anchor="ctr"/>
          <a:lstStyle/>
          <a:p>
            <a:pPr marL="0" indent="0">
              <a:buNone/>
            </a:pPr>
            <a:r>
              <a:rPr lang="en-US" sz="2800" b="1" dirty="0">
                <a:solidFill>
                  <a:srgbClr val="1E293B"/>
                </a:solidFill>
                <a:latin typeface="Calibri Light" pitchFamily="34" charset="0"/>
                <a:ea typeface="Calibri Light" pitchFamily="34" charset="-122"/>
                <a:cs typeface="Calibri Light" pitchFamily="34" charset="-120"/>
              </a:rPr>
              <a:t>Sommaire</a:t>
            </a:r>
            <a:endParaRPr lang="en-US" sz="2800" dirty="0"/>
          </a:p>
        </p:txBody>
      </p:sp>
      <p:sp>
        <p:nvSpPr>
          <p:cNvPr id="5" name="Shape 3"/>
          <p:cNvSpPr/>
          <p:nvPr/>
        </p:nvSpPr>
        <p:spPr>
          <a:xfrm>
            <a:off x="365760" y="1280160"/>
            <a:ext cx="4160520" cy="9144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6" name="Shape 4"/>
          <p:cNvSpPr/>
          <p:nvPr/>
        </p:nvSpPr>
        <p:spPr>
          <a:xfrm>
            <a:off x="365760" y="1280160"/>
            <a:ext cx="64008" cy="914400"/>
          </a:xfrm>
          <a:prstGeom prst="rect">
            <a:avLst/>
          </a:prstGeom>
          <a:solidFill>
            <a:srgbClr val="1D4ED8"/>
          </a:solidFill>
          <a:ln w="12700">
            <a:solidFill>
              <a:srgbClr val="1D4ED8"/>
            </a:solidFill>
            <a:prstDash val="solid"/>
          </a:ln>
        </p:spPr>
        <p:txBody>
          <a:bodyPr/>
          <a:lstStyle/>
          <a:p>
            <a:endParaRPr lang="fr-FR"/>
          </a:p>
        </p:txBody>
      </p:sp>
      <p:sp>
        <p:nvSpPr>
          <p:cNvPr id="7" name="Text 5"/>
          <p:cNvSpPr/>
          <p:nvPr/>
        </p:nvSpPr>
        <p:spPr>
          <a:xfrm>
            <a:off x="502920" y="1353312"/>
            <a:ext cx="457200" cy="320040"/>
          </a:xfrm>
          <a:prstGeom prst="rect">
            <a:avLst/>
          </a:prstGeom>
          <a:noFill/>
          <a:ln/>
        </p:spPr>
        <p:txBody>
          <a:bodyPr wrap="square" rtlCol="0" anchor="ctr"/>
          <a:lstStyle/>
          <a:p>
            <a:pPr marL="0" indent="0">
              <a:buNone/>
            </a:pPr>
            <a:r>
              <a:rPr lang="en-US" sz="900" b="1" kern="0" spc="100" dirty="0">
                <a:solidFill>
                  <a:srgbClr val="1D4ED8"/>
                </a:solidFill>
                <a:latin typeface="Calibri" pitchFamily="34" charset="0"/>
                <a:ea typeface="Calibri" pitchFamily="34" charset="-122"/>
                <a:cs typeface="Calibri" pitchFamily="34" charset="-120"/>
              </a:rPr>
              <a:t>01</a:t>
            </a:r>
            <a:endParaRPr lang="en-US" sz="900" dirty="0"/>
          </a:p>
        </p:txBody>
      </p:sp>
      <p:sp>
        <p:nvSpPr>
          <p:cNvPr id="8" name="Text 6"/>
          <p:cNvSpPr/>
          <p:nvPr/>
        </p:nvSpPr>
        <p:spPr>
          <a:xfrm>
            <a:off x="502920" y="1554480"/>
            <a:ext cx="384048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Contexte &amp; problématique</a:t>
            </a:r>
            <a:endParaRPr lang="en-US" sz="1300" dirty="0"/>
          </a:p>
        </p:txBody>
      </p:sp>
      <p:sp>
        <p:nvSpPr>
          <p:cNvPr id="9" name="Text 7"/>
          <p:cNvSpPr/>
          <p:nvPr/>
        </p:nvSpPr>
        <p:spPr>
          <a:xfrm>
            <a:off x="502920" y="1847088"/>
            <a:ext cx="3840480" cy="2743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Pourquoi le credit scoring nécessite l'IA explicable</a:t>
            </a:r>
            <a:endParaRPr lang="en-US" sz="950" dirty="0"/>
          </a:p>
        </p:txBody>
      </p:sp>
      <p:sp>
        <p:nvSpPr>
          <p:cNvPr id="10" name="Shape 8"/>
          <p:cNvSpPr/>
          <p:nvPr/>
        </p:nvSpPr>
        <p:spPr>
          <a:xfrm>
            <a:off x="365760" y="2377440"/>
            <a:ext cx="4160520" cy="9144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1" name="Shape 9"/>
          <p:cNvSpPr/>
          <p:nvPr/>
        </p:nvSpPr>
        <p:spPr>
          <a:xfrm>
            <a:off x="365760" y="2377440"/>
            <a:ext cx="64008" cy="914400"/>
          </a:xfrm>
          <a:prstGeom prst="rect">
            <a:avLst/>
          </a:prstGeom>
          <a:solidFill>
            <a:srgbClr val="1D4ED8"/>
          </a:solidFill>
          <a:ln w="12700">
            <a:solidFill>
              <a:srgbClr val="1D4ED8"/>
            </a:solidFill>
            <a:prstDash val="solid"/>
          </a:ln>
        </p:spPr>
        <p:txBody>
          <a:bodyPr/>
          <a:lstStyle/>
          <a:p>
            <a:endParaRPr lang="fr-FR"/>
          </a:p>
        </p:txBody>
      </p:sp>
      <p:sp>
        <p:nvSpPr>
          <p:cNvPr id="12" name="Text 10"/>
          <p:cNvSpPr/>
          <p:nvPr/>
        </p:nvSpPr>
        <p:spPr>
          <a:xfrm>
            <a:off x="502920" y="2450592"/>
            <a:ext cx="457200" cy="320040"/>
          </a:xfrm>
          <a:prstGeom prst="rect">
            <a:avLst/>
          </a:prstGeom>
          <a:noFill/>
          <a:ln/>
        </p:spPr>
        <p:txBody>
          <a:bodyPr wrap="square" rtlCol="0" anchor="ctr"/>
          <a:lstStyle/>
          <a:p>
            <a:pPr marL="0" indent="0">
              <a:buNone/>
            </a:pPr>
            <a:r>
              <a:rPr lang="en-US" sz="900" b="1" kern="0" spc="100" dirty="0">
                <a:solidFill>
                  <a:srgbClr val="1D4ED8"/>
                </a:solidFill>
                <a:latin typeface="Calibri" pitchFamily="34" charset="0"/>
                <a:ea typeface="Calibri" pitchFamily="34" charset="-122"/>
                <a:cs typeface="Calibri" pitchFamily="34" charset="-120"/>
              </a:rPr>
              <a:t>02</a:t>
            </a:r>
            <a:endParaRPr lang="en-US" sz="900" dirty="0"/>
          </a:p>
        </p:txBody>
      </p:sp>
      <p:sp>
        <p:nvSpPr>
          <p:cNvPr id="13" name="Text 11"/>
          <p:cNvSpPr/>
          <p:nvPr/>
        </p:nvSpPr>
        <p:spPr>
          <a:xfrm>
            <a:off x="502920" y="2651760"/>
            <a:ext cx="384048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Données &amp; prétraitement</a:t>
            </a:r>
            <a:endParaRPr lang="en-US" sz="1300" dirty="0"/>
          </a:p>
        </p:txBody>
      </p:sp>
      <p:sp>
        <p:nvSpPr>
          <p:cNvPr id="14" name="Text 12"/>
          <p:cNvSpPr/>
          <p:nvPr/>
        </p:nvSpPr>
        <p:spPr>
          <a:xfrm>
            <a:off x="502920" y="2944368"/>
            <a:ext cx="3840480" cy="2743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German Credit Dataset — 1 000 demandes — 20 variables</a:t>
            </a:r>
            <a:endParaRPr lang="en-US" sz="950" dirty="0"/>
          </a:p>
        </p:txBody>
      </p:sp>
      <p:sp>
        <p:nvSpPr>
          <p:cNvPr id="15" name="Shape 13"/>
          <p:cNvSpPr/>
          <p:nvPr/>
        </p:nvSpPr>
        <p:spPr>
          <a:xfrm>
            <a:off x="365760" y="3474720"/>
            <a:ext cx="4160520" cy="9144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6" name="Shape 14"/>
          <p:cNvSpPr/>
          <p:nvPr/>
        </p:nvSpPr>
        <p:spPr>
          <a:xfrm>
            <a:off x="365760" y="3474720"/>
            <a:ext cx="64008" cy="914400"/>
          </a:xfrm>
          <a:prstGeom prst="rect">
            <a:avLst/>
          </a:prstGeom>
          <a:solidFill>
            <a:srgbClr val="1D4ED8"/>
          </a:solidFill>
          <a:ln w="12700">
            <a:solidFill>
              <a:srgbClr val="1D4ED8"/>
            </a:solidFill>
            <a:prstDash val="solid"/>
          </a:ln>
        </p:spPr>
        <p:txBody>
          <a:bodyPr/>
          <a:lstStyle/>
          <a:p>
            <a:endParaRPr lang="fr-FR"/>
          </a:p>
        </p:txBody>
      </p:sp>
      <p:sp>
        <p:nvSpPr>
          <p:cNvPr id="17" name="Text 15"/>
          <p:cNvSpPr/>
          <p:nvPr/>
        </p:nvSpPr>
        <p:spPr>
          <a:xfrm>
            <a:off x="502920" y="3547872"/>
            <a:ext cx="457200" cy="320040"/>
          </a:xfrm>
          <a:prstGeom prst="rect">
            <a:avLst/>
          </a:prstGeom>
          <a:noFill/>
          <a:ln/>
        </p:spPr>
        <p:txBody>
          <a:bodyPr wrap="square" rtlCol="0" anchor="ctr"/>
          <a:lstStyle/>
          <a:p>
            <a:pPr marL="0" indent="0">
              <a:buNone/>
            </a:pPr>
            <a:r>
              <a:rPr lang="en-US" sz="900" b="1" kern="0" spc="100" dirty="0">
                <a:solidFill>
                  <a:srgbClr val="1D4ED8"/>
                </a:solidFill>
                <a:latin typeface="Calibri" pitchFamily="34" charset="0"/>
                <a:ea typeface="Calibri" pitchFamily="34" charset="-122"/>
                <a:cs typeface="Calibri" pitchFamily="34" charset="-120"/>
              </a:rPr>
              <a:t>03</a:t>
            </a:r>
            <a:endParaRPr lang="en-US" sz="900" dirty="0"/>
          </a:p>
        </p:txBody>
      </p:sp>
      <p:sp>
        <p:nvSpPr>
          <p:cNvPr id="18" name="Text 16"/>
          <p:cNvSpPr/>
          <p:nvPr/>
        </p:nvSpPr>
        <p:spPr>
          <a:xfrm>
            <a:off x="502920" y="3749040"/>
            <a:ext cx="384048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Modèles ML</a:t>
            </a:r>
            <a:endParaRPr lang="en-US" sz="1300" dirty="0"/>
          </a:p>
        </p:txBody>
      </p:sp>
      <p:sp>
        <p:nvSpPr>
          <p:cNvPr id="19" name="Text 17"/>
          <p:cNvSpPr/>
          <p:nvPr/>
        </p:nvSpPr>
        <p:spPr>
          <a:xfrm>
            <a:off x="502920" y="4041648"/>
            <a:ext cx="3840480" cy="2743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XGBoost, LightGBM, Decision Tree — métriques AUC/AUPRC</a:t>
            </a:r>
            <a:endParaRPr lang="en-US" sz="950" dirty="0"/>
          </a:p>
        </p:txBody>
      </p:sp>
      <p:sp>
        <p:nvSpPr>
          <p:cNvPr id="20" name="Shape 18"/>
          <p:cNvSpPr/>
          <p:nvPr/>
        </p:nvSpPr>
        <p:spPr>
          <a:xfrm>
            <a:off x="4754880" y="1280160"/>
            <a:ext cx="4160520" cy="9144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21" name="Shape 19"/>
          <p:cNvSpPr/>
          <p:nvPr/>
        </p:nvSpPr>
        <p:spPr>
          <a:xfrm>
            <a:off x="4754880" y="1280160"/>
            <a:ext cx="64008" cy="914400"/>
          </a:xfrm>
          <a:prstGeom prst="rect">
            <a:avLst/>
          </a:prstGeom>
          <a:solidFill>
            <a:srgbClr val="1D4ED8"/>
          </a:solidFill>
          <a:ln w="12700">
            <a:solidFill>
              <a:srgbClr val="1D4ED8"/>
            </a:solidFill>
            <a:prstDash val="solid"/>
          </a:ln>
        </p:spPr>
        <p:txBody>
          <a:bodyPr/>
          <a:lstStyle/>
          <a:p>
            <a:endParaRPr lang="fr-FR"/>
          </a:p>
        </p:txBody>
      </p:sp>
      <p:sp>
        <p:nvSpPr>
          <p:cNvPr id="22" name="Text 20"/>
          <p:cNvSpPr/>
          <p:nvPr/>
        </p:nvSpPr>
        <p:spPr>
          <a:xfrm>
            <a:off x="4892040" y="1353312"/>
            <a:ext cx="457200" cy="320040"/>
          </a:xfrm>
          <a:prstGeom prst="rect">
            <a:avLst/>
          </a:prstGeom>
          <a:noFill/>
          <a:ln/>
        </p:spPr>
        <p:txBody>
          <a:bodyPr wrap="square" rtlCol="0" anchor="ctr"/>
          <a:lstStyle/>
          <a:p>
            <a:pPr marL="0" indent="0">
              <a:buNone/>
            </a:pPr>
            <a:r>
              <a:rPr lang="en-US" sz="900" b="1" kern="0" spc="100" dirty="0">
                <a:solidFill>
                  <a:srgbClr val="1D4ED8"/>
                </a:solidFill>
                <a:latin typeface="Calibri" pitchFamily="34" charset="0"/>
                <a:ea typeface="Calibri" pitchFamily="34" charset="-122"/>
                <a:cs typeface="Calibri" pitchFamily="34" charset="-120"/>
              </a:rPr>
              <a:t>04</a:t>
            </a:r>
            <a:endParaRPr lang="en-US" sz="900" dirty="0"/>
          </a:p>
        </p:txBody>
      </p:sp>
      <p:sp>
        <p:nvSpPr>
          <p:cNvPr id="23" name="Text 21"/>
          <p:cNvSpPr/>
          <p:nvPr/>
        </p:nvSpPr>
        <p:spPr>
          <a:xfrm>
            <a:off x="4892040" y="1554480"/>
            <a:ext cx="384048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Explicabilité XAI</a:t>
            </a:r>
            <a:endParaRPr lang="en-US" sz="1300" dirty="0"/>
          </a:p>
        </p:txBody>
      </p:sp>
      <p:sp>
        <p:nvSpPr>
          <p:cNvPr id="24" name="Text 22"/>
          <p:cNvSpPr/>
          <p:nvPr/>
        </p:nvSpPr>
        <p:spPr>
          <a:xfrm>
            <a:off x="4892040" y="1847088"/>
            <a:ext cx="3840480" cy="2743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SHAP, LIME, Contrefactuels DiCE</a:t>
            </a:r>
            <a:endParaRPr lang="en-US" sz="950" dirty="0"/>
          </a:p>
        </p:txBody>
      </p:sp>
      <p:sp>
        <p:nvSpPr>
          <p:cNvPr id="25" name="Shape 23"/>
          <p:cNvSpPr/>
          <p:nvPr/>
        </p:nvSpPr>
        <p:spPr>
          <a:xfrm>
            <a:off x="4754880" y="2377440"/>
            <a:ext cx="4160520" cy="9144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26" name="Shape 24"/>
          <p:cNvSpPr/>
          <p:nvPr/>
        </p:nvSpPr>
        <p:spPr>
          <a:xfrm>
            <a:off x="4754880" y="2377440"/>
            <a:ext cx="64008" cy="914400"/>
          </a:xfrm>
          <a:prstGeom prst="rect">
            <a:avLst/>
          </a:prstGeom>
          <a:solidFill>
            <a:srgbClr val="1D4ED8"/>
          </a:solidFill>
          <a:ln w="12700">
            <a:solidFill>
              <a:srgbClr val="1D4ED8"/>
            </a:solidFill>
            <a:prstDash val="solid"/>
          </a:ln>
        </p:spPr>
        <p:txBody>
          <a:bodyPr/>
          <a:lstStyle/>
          <a:p>
            <a:endParaRPr lang="fr-FR"/>
          </a:p>
        </p:txBody>
      </p:sp>
      <p:sp>
        <p:nvSpPr>
          <p:cNvPr id="27" name="Text 25"/>
          <p:cNvSpPr/>
          <p:nvPr/>
        </p:nvSpPr>
        <p:spPr>
          <a:xfrm>
            <a:off x="4892040" y="2450592"/>
            <a:ext cx="457200" cy="320040"/>
          </a:xfrm>
          <a:prstGeom prst="rect">
            <a:avLst/>
          </a:prstGeom>
          <a:noFill/>
          <a:ln/>
        </p:spPr>
        <p:txBody>
          <a:bodyPr wrap="square" rtlCol="0" anchor="ctr"/>
          <a:lstStyle/>
          <a:p>
            <a:pPr marL="0" indent="0">
              <a:buNone/>
            </a:pPr>
            <a:r>
              <a:rPr lang="en-US" sz="900" b="1" kern="0" spc="100" dirty="0">
                <a:solidFill>
                  <a:srgbClr val="1D4ED8"/>
                </a:solidFill>
                <a:latin typeface="Calibri" pitchFamily="34" charset="0"/>
                <a:ea typeface="Calibri" pitchFamily="34" charset="-122"/>
                <a:cs typeface="Calibri" pitchFamily="34" charset="-120"/>
              </a:rPr>
              <a:t>05</a:t>
            </a:r>
            <a:endParaRPr lang="en-US" sz="900" dirty="0"/>
          </a:p>
        </p:txBody>
      </p:sp>
      <p:sp>
        <p:nvSpPr>
          <p:cNvPr id="28" name="Text 26"/>
          <p:cNvSpPr/>
          <p:nvPr/>
        </p:nvSpPr>
        <p:spPr>
          <a:xfrm>
            <a:off x="4892040" y="2651760"/>
            <a:ext cx="384048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Audit de biais</a:t>
            </a:r>
            <a:endParaRPr lang="en-US" sz="1300" dirty="0"/>
          </a:p>
        </p:txBody>
      </p:sp>
      <p:sp>
        <p:nvSpPr>
          <p:cNvPr id="29" name="Text 27"/>
          <p:cNvSpPr/>
          <p:nvPr/>
        </p:nvSpPr>
        <p:spPr>
          <a:xfrm>
            <a:off x="4892040" y="2944368"/>
            <a:ext cx="3840480" cy="2743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Fairlearn — Parité démographique — Equalized Odds</a:t>
            </a:r>
            <a:endParaRPr lang="en-US" sz="950" dirty="0"/>
          </a:p>
        </p:txBody>
      </p:sp>
      <p:sp>
        <p:nvSpPr>
          <p:cNvPr id="30" name="Shape 28"/>
          <p:cNvSpPr/>
          <p:nvPr/>
        </p:nvSpPr>
        <p:spPr>
          <a:xfrm>
            <a:off x="4754880" y="3474720"/>
            <a:ext cx="4160520" cy="9144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31" name="Shape 29"/>
          <p:cNvSpPr/>
          <p:nvPr/>
        </p:nvSpPr>
        <p:spPr>
          <a:xfrm>
            <a:off x="4754880" y="3474720"/>
            <a:ext cx="64008" cy="914400"/>
          </a:xfrm>
          <a:prstGeom prst="rect">
            <a:avLst/>
          </a:prstGeom>
          <a:solidFill>
            <a:srgbClr val="1D4ED8"/>
          </a:solidFill>
          <a:ln w="12700">
            <a:solidFill>
              <a:srgbClr val="1D4ED8"/>
            </a:solidFill>
            <a:prstDash val="solid"/>
          </a:ln>
        </p:spPr>
        <p:txBody>
          <a:bodyPr/>
          <a:lstStyle/>
          <a:p>
            <a:endParaRPr lang="fr-FR"/>
          </a:p>
        </p:txBody>
      </p:sp>
      <p:sp>
        <p:nvSpPr>
          <p:cNvPr id="32" name="Text 30"/>
          <p:cNvSpPr/>
          <p:nvPr/>
        </p:nvSpPr>
        <p:spPr>
          <a:xfrm>
            <a:off x="4892040" y="3547872"/>
            <a:ext cx="457200" cy="320040"/>
          </a:xfrm>
          <a:prstGeom prst="rect">
            <a:avLst/>
          </a:prstGeom>
          <a:noFill/>
          <a:ln/>
        </p:spPr>
        <p:txBody>
          <a:bodyPr wrap="square" rtlCol="0" anchor="ctr"/>
          <a:lstStyle/>
          <a:p>
            <a:pPr marL="0" indent="0">
              <a:buNone/>
            </a:pPr>
            <a:r>
              <a:rPr lang="en-US" sz="900" b="1" kern="0" spc="100" dirty="0">
                <a:solidFill>
                  <a:srgbClr val="1D4ED8"/>
                </a:solidFill>
                <a:latin typeface="Calibri" pitchFamily="34" charset="0"/>
                <a:ea typeface="Calibri" pitchFamily="34" charset="-122"/>
                <a:cs typeface="Calibri" pitchFamily="34" charset="-120"/>
              </a:rPr>
              <a:t>06</a:t>
            </a:r>
            <a:endParaRPr lang="en-US" sz="900" dirty="0"/>
          </a:p>
        </p:txBody>
      </p:sp>
      <p:sp>
        <p:nvSpPr>
          <p:cNvPr id="33" name="Text 31"/>
          <p:cNvSpPr/>
          <p:nvPr/>
        </p:nvSpPr>
        <p:spPr>
          <a:xfrm>
            <a:off x="4892040" y="3749040"/>
            <a:ext cx="3840480" cy="320040"/>
          </a:xfrm>
          <a:prstGeom prst="rect">
            <a:avLst/>
          </a:prstGeom>
          <a:noFill/>
          <a:ln/>
        </p:spPr>
        <p:txBody>
          <a:bodyPr wrap="square"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Dashboard &amp; résultats</a:t>
            </a:r>
            <a:endParaRPr lang="en-US" sz="1300" dirty="0"/>
          </a:p>
        </p:txBody>
      </p:sp>
      <p:sp>
        <p:nvSpPr>
          <p:cNvPr id="34" name="Text 32"/>
          <p:cNvSpPr/>
          <p:nvPr/>
        </p:nvSpPr>
        <p:spPr>
          <a:xfrm>
            <a:off x="4892040" y="4041648"/>
            <a:ext cx="3840480" cy="274320"/>
          </a:xfrm>
          <a:prstGeom prst="rect">
            <a:avLst/>
          </a:prstGeom>
          <a:noFill/>
          <a:ln/>
        </p:spPr>
        <p:txBody>
          <a:bodyPr wrap="square" rtlCol="0" anchor="ctr"/>
          <a:lstStyle/>
          <a:p>
            <a:pPr marL="0" indent="0">
              <a:buNone/>
            </a:pPr>
            <a:r>
              <a:rPr lang="en-US" sz="950" dirty="0">
                <a:solidFill>
                  <a:srgbClr val="475569"/>
                </a:solidFill>
                <a:latin typeface="Calibri" pitchFamily="34" charset="0"/>
                <a:ea typeface="Calibri" pitchFamily="34" charset="-122"/>
                <a:cs typeface="Calibri" pitchFamily="34" charset="-120"/>
              </a:rPr>
              <a:t>Interface Gradio interactive — conclusions</a:t>
            </a:r>
            <a:endParaRPr lang="en-US" sz="950" dirty="0"/>
          </a:p>
        </p:txBody>
      </p:sp>
      <p:sp>
        <p:nvSpPr>
          <p:cNvPr id="35" name="Shape 33"/>
          <p:cNvSpPr/>
          <p:nvPr/>
        </p:nvSpPr>
        <p:spPr>
          <a:xfrm>
            <a:off x="0" y="4892040"/>
            <a:ext cx="9144000" cy="251460"/>
          </a:xfrm>
          <a:prstGeom prst="rect">
            <a:avLst/>
          </a:prstGeom>
          <a:solidFill>
            <a:srgbClr val="0A1A30"/>
          </a:solidFill>
          <a:ln w="12700">
            <a:solidFill>
              <a:srgbClr val="0A1A30"/>
            </a:solidFill>
            <a:prstDash val="solid"/>
          </a:ln>
        </p:spPr>
        <p:txBody>
          <a:bodyPr/>
          <a:lstStyle/>
          <a:p>
            <a:endParaRPr lang="fr-FR"/>
          </a:p>
        </p:txBody>
      </p:sp>
      <p:sp>
        <p:nvSpPr>
          <p:cNvPr id="36" name="Text 34"/>
          <p:cNvSpPr/>
          <p:nvPr/>
        </p:nvSpPr>
        <p:spPr>
          <a:xfrm>
            <a:off x="320040" y="4901184"/>
            <a:ext cx="6400800" cy="22860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Robin Lamy  ·  ECE Paris ING4 Finance IA  ·  2026</a:t>
            </a:r>
            <a:endParaRPr lang="en-US" sz="800" dirty="0"/>
          </a:p>
        </p:txBody>
      </p:sp>
      <p:sp>
        <p:nvSpPr>
          <p:cNvPr id="37" name="Text 35"/>
          <p:cNvSpPr/>
          <p:nvPr/>
        </p:nvSpPr>
        <p:spPr>
          <a:xfrm>
            <a:off x="8229600" y="4901184"/>
            <a:ext cx="640080" cy="22860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2 / 12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201168"/>
            <a:ext cx="54864" cy="292608"/>
          </a:xfrm>
          <a:prstGeom prst="rect">
            <a:avLst/>
          </a:prstGeom>
          <a:solidFill>
            <a:srgbClr val="1D4ED8"/>
          </a:solidFill>
          <a:ln w="12700">
            <a:solidFill>
              <a:srgbClr val="1D4ED8"/>
            </a:solidFill>
            <a:prstDash val="solid"/>
          </a:ln>
        </p:spPr>
        <p:txBody>
          <a:bodyPr/>
          <a:lstStyle/>
          <a:p>
            <a:endParaRPr lang="fr-FR"/>
          </a:p>
        </p:txBody>
      </p:sp>
      <p:sp>
        <p:nvSpPr>
          <p:cNvPr id="3" name="Text 1"/>
          <p:cNvSpPr/>
          <p:nvPr/>
        </p:nvSpPr>
        <p:spPr>
          <a:xfrm>
            <a:off x="502920" y="201168"/>
            <a:ext cx="3657600" cy="292608"/>
          </a:xfrm>
          <a:prstGeom prst="rect">
            <a:avLst/>
          </a:prstGeom>
          <a:noFill/>
          <a:ln/>
        </p:spPr>
        <p:txBody>
          <a:bodyPr wrap="square" lIns="0" tIns="0" rIns="0" bIns="0" rtlCol="0" anchor="ctr"/>
          <a:lstStyle/>
          <a:p>
            <a:pPr marL="0" indent="0">
              <a:buNone/>
            </a:pPr>
            <a:r>
              <a:rPr lang="en-US" sz="900" b="1" kern="0" spc="200" dirty="0">
                <a:solidFill>
                  <a:srgbClr val="1D4ED8"/>
                </a:solidFill>
                <a:latin typeface="Calibri" pitchFamily="34" charset="0"/>
                <a:ea typeface="Calibri" pitchFamily="34" charset="-122"/>
                <a:cs typeface="Calibri" pitchFamily="34" charset="-120"/>
              </a:rPr>
              <a:t>01 — CONTEXTE</a:t>
            </a:r>
            <a:endParaRPr lang="en-US" sz="900" dirty="0"/>
          </a:p>
        </p:txBody>
      </p:sp>
      <p:sp>
        <p:nvSpPr>
          <p:cNvPr id="4" name="Text 2"/>
          <p:cNvSpPr/>
          <p:nvPr/>
        </p:nvSpPr>
        <p:spPr>
          <a:xfrm>
            <a:off x="365760" y="548640"/>
            <a:ext cx="8412480" cy="502920"/>
          </a:xfrm>
          <a:prstGeom prst="rect">
            <a:avLst/>
          </a:prstGeom>
          <a:noFill/>
          <a:ln/>
        </p:spPr>
        <p:txBody>
          <a:bodyPr wrap="square" rtlCol="0" anchor="ctr"/>
          <a:lstStyle/>
          <a:p>
            <a:pPr marL="0" indent="0">
              <a:buNone/>
            </a:pPr>
            <a:r>
              <a:rPr lang="en-US" sz="2600" b="1" dirty="0">
                <a:solidFill>
                  <a:srgbClr val="1E293B"/>
                </a:solidFill>
                <a:latin typeface="Calibri Light" pitchFamily="34" charset="0"/>
                <a:ea typeface="Calibri Light" pitchFamily="34" charset="-122"/>
                <a:cs typeface="Calibri Light" pitchFamily="34" charset="-120"/>
              </a:rPr>
              <a:t>Pourquoi l'IA Explicable en finance ?</a:t>
            </a:r>
            <a:endParaRPr lang="en-US" sz="2600" dirty="0"/>
          </a:p>
        </p:txBody>
      </p:sp>
      <p:sp>
        <p:nvSpPr>
          <p:cNvPr id="5" name="Shape 3"/>
          <p:cNvSpPr/>
          <p:nvPr/>
        </p:nvSpPr>
        <p:spPr>
          <a:xfrm>
            <a:off x="365760" y="1188720"/>
            <a:ext cx="4114800" cy="33832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6" name="Shape 4"/>
          <p:cNvSpPr/>
          <p:nvPr/>
        </p:nvSpPr>
        <p:spPr>
          <a:xfrm>
            <a:off x="365760" y="1188720"/>
            <a:ext cx="4114800" cy="73152"/>
          </a:xfrm>
          <a:prstGeom prst="rect">
            <a:avLst/>
          </a:prstGeom>
          <a:solidFill>
            <a:srgbClr val="DC2626"/>
          </a:solidFill>
          <a:ln w="12700">
            <a:solidFill>
              <a:srgbClr val="DC2626"/>
            </a:solidFill>
            <a:prstDash val="solid"/>
          </a:ln>
        </p:spPr>
        <p:txBody>
          <a:bodyPr/>
          <a:lstStyle/>
          <a:p>
            <a:endParaRPr lang="fr-FR"/>
          </a:p>
        </p:txBody>
      </p:sp>
      <p:sp>
        <p:nvSpPr>
          <p:cNvPr id="7" name="Text 5"/>
          <p:cNvSpPr/>
          <p:nvPr/>
        </p:nvSpPr>
        <p:spPr>
          <a:xfrm>
            <a:off x="502920" y="1325880"/>
            <a:ext cx="3840480" cy="365760"/>
          </a:xfrm>
          <a:prstGeom prst="rect">
            <a:avLst/>
          </a:prstGeom>
          <a:noFill/>
          <a:ln/>
        </p:spPr>
        <p:txBody>
          <a:bodyPr wrap="square"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Le paradoxe</a:t>
            </a:r>
            <a:endParaRPr lang="en-US" sz="1300" dirty="0"/>
          </a:p>
        </p:txBody>
      </p:sp>
      <p:sp>
        <p:nvSpPr>
          <p:cNvPr id="8" name="Text 6"/>
          <p:cNvSpPr/>
          <p:nvPr/>
        </p:nvSpPr>
        <p:spPr>
          <a:xfrm>
            <a:off x="502920" y="1737360"/>
            <a:ext cx="3840480" cy="731520"/>
          </a:xfrm>
          <a:prstGeom prst="rect">
            <a:avLst/>
          </a:prstGeom>
          <a:noFill/>
          <a:ln/>
        </p:spPr>
        <p:txBody>
          <a:bodyPr wrap="square" rtlCol="0" anchor="ctr"/>
          <a:lstStyle/>
          <a:p>
            <a:pPr marL="0" indent="0">
              <a:buNone/>
            </a:pPr>
            <a:r>
              <a:rPr lang="en-US" sz="1200" dirty="0">
                <a:solidFill>
                  <a:srgbClr val="374151"/>
                </a:solidFill>
                <a:latin typeface="Calibri" pitchFamily="34" charset="0"/>
                <a:ea typeface="Calibri" pitchFamily="34" charset="-122"/>
                <a:cs typeface="Calibri" pitchFamily="34" charset="-120"/>
              </a:rPr>
              <a:t>Les modèles ML performants sont des boîtes noires.
</a:t>
            </a:r>
            <a:r>
              <a:rPr lang="en-US" sz="1200" b="1" dirty="0">
                <a:solidFill>
                  <a:srgbClr val="374151"/>
                </a:solidFill>
                <a:latin typeface="Calibri" pitchFamily="34" charset="0"/>
                <a:ea typeface="Calibri" pitchFamily="34" charset="-122"/>
                <a:cs typeface="Calibri" pitchFamily="34" charset="-120"/>
              </a:rPr>
              <a:t>Plus un modèle est précis,</a:t>
            </a:r>
            <a:endParaRPr lang="en-US" sz="1200" dirty="0"/>
          </a:p>
          <a:p>
            <a:pPr marL="0" indent="0">
              <a:buNone/>
            </a:pPr>
            <a:r>
              <a:rPr lang="en-US" sz="1200" b="1" dirty="0">
                <a:solidFill>
                  <a:srgbClr val="374151"/>
                </a:solidFill>
                <a:latin typeface="Calibri" pitchFamily="34" charset="0"/>
                <a:ea typeface="Calibri" pitchFamily="34" charset="-122"/>
                <a:cs typeface="Calibri" pitchFamily="34" charset="-120"/>
              </a:rPr>
              <a:t>moins il est explicable.</a:t>
            </a:r>
            <a:endParaRPr lang="en-US" sz="1200" dirty="0"/>
          </a:p>
        </p:txBody>
      </p:sp>
      <p:sp>
        <p:nvSpPr>
          <p:cNvPr id="9" name="Text 7"/>
          <p:cNvSpPr/>
          <p:nvPr/>
        </p:nvSpPr>
        <p:spPr>
          <a:xfrm>
            <a:off x="502920" y="2606040"/>
            <a:ext cx="3840480" cy="640080"/>
          </a:xfrm>
          <a:prstGeom prst="rect">
            <a:avLst/>
          </a:prstGeom>
          <a:noFill/>
          <a:ln/>
        </p:spPr>
        <p:txBody>
          <a:bodyPr wrap="square" rtlCol="0" anchor="ctr"/>
          <a:lstStyle/>
          <a:p>
            <a:pPr marL="0" indent="0">
              <a:buNone/>
            </a:pPr>
            <a:r>
              <a:rPr lang="en-US" sz="1100" b="1" dirty="0">
                <a:solidFill>
                  <a:srgbClr val="1D4ED8"/>
                </a:solidFill>
                <a:latin typeface="Calibri" pitchFamily="34" charset="0"/>
                <a:ea typeface="Calibri" pitchFamily="34" charset="-122"/>
                <a:cs typeface="Calibri" pitchFamily="34" charset="-120"/>
              </a:rPr>
              <a:t>RGPD Art. 22</a:t>
            </a:r>
            <a:r>
              <a:rPr lang="en-US" sz="1100" dirty="0">
                <a:solidFill>
                  <a:srgbClr val="374151"/>
                </a:solidFill>
                <a:latin typeface="Calibri" pitchFamily="34" charset="0"/>
                <a:ea typeface="Calibri" pitchFamily="34" charset="-122"/>
                <a:cs typeface="Calibri" pitchFamily="34" charset="-120"/>
              </a:rPr>
              <a:t> — Toute personne soumise à une décision automatisée a le droit d'obtenir une explication humaine.</a:t>
            </a:r>
            <a:endParaRPr lang="en-US" sz="1100" dirty="0"/>
          </a:p>
        </p:txBody>
      </p:sp>
      <p:sp>
        <p:nvSpPr>
          <p:cNvPr id="10" name="Text 8"/>
          <p:cNvSpPr/>
          <p:nvPr/>
        </p:nvSpPr>
        <p:spPr>
          <a:xfrm>
            <a:off x="502920" y="3337560"/>
            <a:ext cx="3840480" cy="640080"/>
          </a:xfrm>
          <a:prstGeom prst="rect">
            <a:avLst/>
          </a:prstGeom>
          <a:noFill/>
          <a:ln/>
        </p:spPr>
        <p:txBody>
          <a:bodyPr wrap="square" rtlCol="0" anchor="ctr"/>
          <a:lstStyle/>
          <a:p>
            <a:pPr marL="0" indent="0">
              <a:buNone/>
            </a:pPr>
            <a:r>
              <a:rPr lang="en-US" sz="1100" b="1" dirty="0">
                <a:solidFill>
                  <a:srgbClr val="1D4ED8"/>
                </a:solidFill>
                <a:latin typeface="Calibri" pitchFamily="34" charset="0"/>
                <a:ea typeface="Calibri" pitchFamily="34" charset="-122"/>
                <a:cs typeface="Calibri" pitchFamily="34" charset="-120"/>
              </a:rPr>
              <a:t>AI Act UE (2024)</a:t>
            </a:r>
            <a:r>
              <a:rPr lang="en-US" sz="1100" dirty="0">
                <a:solidFill>
                  <a:srgbClr val="374151"/>
                </a:solidFill>
                <a:latin typeface="Calibri" pitchFamily="34" charset="0"/>
                <a:ea typeface="Calibri" pitchFamily="34" charset="-122"/>
                <a:cs typeface="Calibri" pitchFamily="34" charset="-120"/>
              </a:rPr>
              <a:t> — Les systèmes de credit scoring sont classés "haut risque" : explicabilité et audit de biais obligatoires.</a:t>
            </a:r>
            <a:endParaRPr lang="en-US" sz="1100" dirty="0"/>
          </a:p>
        </p:txBody>
      </p:sp>
      <p:sp>
        <p:nvSpPr>
          <p:cNvPr id="11" name="Text 9"/>
          <p:cNvSpPr/>
          <p:nvPr/>
        </p:nvSpPr>
        <p:spPr>
          <a:xfrm>
            <a:off x="502920" y="4069080"/>
            <a:ext cx="3840480" cy="365760"/>
          </a:xfrm>
          <a:prstGeom prst="rect">
            <a:avLst/>
          </a:prstGeom>
          <a:noFill/>
          <a:ln/>
        </p:spPr>
        <p:txBody>
          <a:bodyPr wrap="square" rtlCol="0" anchor="ctr"/>
          <a:lstStyle/>
          <a:p>
            <a:pPr marL="0" indent="0">
              <a:buNone/>
            </a:pPr>
            <a:r>
              <a:rPr lang="en-US" sz="1100" b="1" i="1" dirty="0">
                <a:solidFill>
                  <a:srgbClr val="475569"/>
                </a:solidFill>
                <a:latin typeface="Calibri" pitchFamily="34" charset="0"/>
                <a:ea typeface="Calibri" pitchFamily="34" charset="-122"/>
                <a:cs typeface="Calibri" pitchFamily="34" charset="-120"/>
              </a:rPr>
              <a:t>Un client refusé a le droit de savoir POURQUOI.</a:t>
            </a:r>
            <a:endParaRPr lang="en-US" sz="1100" dirty="0"/>
          </a:p>
        </p:txBody>
      </p:sp>
      <p:sp>
        <p:nvSpPr>
          <p:cNvPr id="12" name="Shape 10"/>
          <p:cNvSpPr/>
          <p:nvPr/>
        </p:nvSpPr>
        <p:spPr>
          <a:xfrm>
            <a:off x="4709160" y="1188720"/>
            <a:ext cx="4069080" cy="3383280"/>
          </a:xfrm>
          <a:prstGeom prst="rect">
            <a:avLst/>
          </a:prstGeom>
          <a:solidFill>
            <a:srgbClr val="0F2444"/>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3" name="Shape 11"/>
          <p:cNvSpPr/>
          <p:nvPr/>
        </p:nvSpPr>
        <p:spPr>
          <a:xfrm>
            <a:off x="4709160" y="1188720"/>
            <a:ext cx="4069080" cy="73152"/>
          </a:xfrm>
          <a:prstGeom prst="rect">
            <a:avLst/>
          </a:prstGeom>
          <a:solidFill>
            <a:srgbClr val="2563EB"/>
          </a:solidFill>
          <a:ln w="12700">
            <a:solidFill>
              <a:srgbClr val="2563EB"/>
            </a:solidFill>
            <a:prstDash val="solid"/>
          </a:ln>
        </p:spPr>
        <p:txBody>
          <a:bodyPr/>
          <a:lstStyle/>
          <a:p>
            <a:endParaRPr lang="fr-FR"/>
          </a:p>
        </p:txBody>
      </p:sp>
      <p:sp>
        <p:nvSpPr>
          <p:cNvPr id="14" name="Text 12"/>
          <p:cNvSpPr/>
          <p:nvPr/>
        </p:nvSpPr>
        <p:spPr>
          <a:xfrm>
            <a:off x="4846320" y="1325880"/>
            <a:ext cx="3749040" cy="365760"/>
          </a:xfrm>
          <a:prstGeom prst="rect">
            <a:avLst/>
          </a:prstGeom>
          <a:noFill/>
          <a:ln/>
        </p:spPr>
        <p:txBody>
          <a:bodyPr wrap="square" rtlCol="0" anchor="ctr"/>
          <a:lstStyle/>
          <a:p>
            <a:pPr marL="0" indent="0">
              <a:buNone/>
            </a:pPr>
            <a:r>
              <a:rPr lang="en-US" sz="1300" b="1" dirty="0">
                <a:solidFill>
                  <a:srgbClr val="BFDBFE"/>
                </a:solidFill>
                <a:latin typeface="Calibri" pitchFamily="34" charset="0"/>
                <a:ea typeface="Calibri" pitchFamily="34" charset="-122"/>
                <a:cs typeface="Calibri" pitchFamily="34" charset="-120"/>
              </a:rPr>
              <a:t>La réponse : XAI</a:t>
            </a:r>
            <a:endParaRPr lang="en-US" sz="1300" dirty="0"/>
          </a:p>
        </p:txBody>
      </p:sp>
      <p:sp>
        <p:nvSpPr>
          <p:cNvPr id="15" name="Text 13"/>
          <p:cNvSpPr/>
          <p:nvPr/>
        </p:nvSpPr>
        <p:spPr>
          <a:xfrm>
            <a:off x="4846320" y="1828800"/>
            <a:ext cx="1188720" cy="292608"/>
          </a:xfrm>
          <a:prstGeom prst="rect">
            <a:avLst/>
          </a:prstGeom>
          <a:noFill/>
          <a:ln/>
        </p:spPr>
        <p:txBody>
          <a:bodyPr wrap="square" rtlCol="0" anchor="ctr"/>
          <a:lstStyle/>
          <a:p>
            <a:pPr marL="0" indent="0">
              <a:buNone/>
            </a:pPr>
            <a:r>
              <a:rPr lang="en-US" sz="1100" b="1" dirty="0">
                <a:solidFill>
                  <a:srgbClr val="BFDBFE"/>
                </a:solidFill>
                <a:latin typeface="Calibri" pitchFamily="34" charset="0"/>
                <a:ea typeface="Calibri" pitchFamily="34" charset="-122"/>
                <a:cs typeface="Calibri" pitchFamily="34" charset="-120"/>
              </a:rPr>
              <a:t>SHAP</a:t>
            </a:r>
            <a:endParaRPr lang="en-US" sz="1100" dirty="0"/>
          </a:p>
        </p:txBody>
      </p:sp>
      <p:sp>
        <p:nvSpPr>
          <p:cNvPr id="16" name="Text 14"/>
          <p:cNvSpPr/>
          <p:nvPr/>
        </p:nvSpPr>
        <p:spPr>
          <a:xfrm>
            <a:off x="4846320" y="2084832"/>
            <a:ext cx="3749040" cy="29260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Contribution exacte de chaque variable (théorie des jeux)</a:t>
            </a:r>
            <a:endParaRPr lang="en-US" sz="1000" dirty="0"/>
          </a:p>
        </p:txBody>
      </p:sp>
      <p:sp>
        <p:nvSpPr>
          <p:cNvPr id="17" name="Text 15"/>
          <p:cNvSpPr/>
          <p:nvPr/>
        </p:nvSpPr>
        <p:spPr>
          <a:xfrm>
            <a:off x="4846320" y="2487168"/>
            <a:ext cx="1188720" cy="292608"/>
          </a:xfrm>
          <a:prstGeom prst="rect">
            <a:avLst/>
          </a:prstGeom>
          <a:noFill/>
          <a:ln/>
        </p:spPr>
        <p:txBody>
          <a:bodyPr wrap="square" rtlCol="0" anchor="ctr"/>
          <a:lstStyle/>
          <a:p>
            <a:pPr marL="0" indent="0">
              <a:buNone/>
            </a:pPr>
            <a:r>
              <a:rPr lang="en-US" sz="1100" b="1" dirty="0">
                <a:solidFill>
                  <a:srgbClr val="BFDBFE"/>
                </a:solidFill>
                <a:latin typeface="Calibri" pitchFamily="34" charset="0"/>
                <a:ea typeface="Calibri" pitchFamily="34" charset="-122"/>
                <a:cs typeface="Calibri" pitchFamily="34" charset="-120"/>
              </a:rPr>
              <a:t>LIME</a:t>
            </a:r>
            <a:endParaRPr lang="en-US" sz="1100" dirty="0"/>
          </a:p>
        </p:txBody>
      </p:sp>
      <p:sp>
        <p:nvSpPr>
          <p:cNvPr id="18" name="Text 16"/>
          <p:cNvSpPr/>
          <p:nvPr/>
        </p:nvSpPr>
        <p:spPr>
          <a:xfrm>
            <a:off x="4846320" y="2743200"/>
            <a:ext cx="3749040" cy="29260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Approximation linéaire locale pour chaque client</a:t>
            </a:r>
            <a:endParaRPr lang="en-US" sz="1000" dirty="0"/>
          </a:p>
        </p:txBody>
      </p:sp>
      <p:sp>
        <p:nvSpPr>
          <p:cNvPr id="19" name="Text 17"/>
          <p:cNvSpPr/>
          <p:nvPr/>
        </p:nvSpPr>
        <p:spPr>
          <a:xfrm>
            <a:off x="4846320" y="3145536"/>
            <a:ext cx="1188720" cy="292608"/>
          </a:xfrm>
          <a:prstGeom prst="rect">
            <a:avLst/>
          </a:prstGeom>
          <a:noFill/>
          <a:ln/>
        </p:spPr>
        <p:txBody>
          <a:bodyPr wrap="square" rtlCol="0" anchor="ctr"/>
          <a:lstStyle/>
          <a:p>
            <a:pPr marL="0" indent="0">
              <a:buNone/>
            </a:pPr>
            <a:r>
              <a:rPr lang="en-US" sz="1100" b="1" dirty="0">
                <a:solidFill>
                  <a:srgbClr val="BFDBFE"/>
                </a:solidFill>
                <a:latin typeface="Calibri" pitchFamily="34" charset="0"/>
                <a:ea typeface="Calibri" pitchFamily="34" charset="-122"/>
                <a:cs typeface="Calibri" pitchFamily="34" charset="-120"/>
              </a:rPr>
              <a:t>DiCE</a:t>
            </a:r>
            <a:endParaRPr lang="en-US" sz="1100" dirty="0"/>
          </a:p>
        </p:txBody>
      </p:sp>
      <p:sp>
        <p:nvSpPr>
          <p:cNvPr id="20" name="Text 18"/>
          <p:cNvSpPr/>
          <p:nvPr/>
        </p:nvSpPr>
        <p:spPr>
          <a:xfrm>
            <a:off x="4846320" y="3401568"/>
            <a:ext cx="3749040" cy="29260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Scénarios alternatifs — "que changer pour être accepté ?"</a:t>
            </a:r>
            <a:endParaRPr lang="en-US" sz="1000" dirty="0"/>
          </a:p>
        </p:txBody>
      </p:sp>
      <p:sp>
        <p:nvSpPr>
          <p:cNvPr id="21" name="Text 19"/>
          <p:cNvSpPr/>
          <p:nvPr/>
        </p:nvSpPr>
        <p:spPr>
          <a:xfrm>
            <a:off x="4846320" y="3803904"/>
            <a:ext cx="1188720" cy="292608"/>
          </a:xfrm>
          <a:prstGeom prst="rect">
            <a:avLst/>
          </a:prstGeom>
          <a:noFill/>
          <a:ln/>
        </p:spPr>
        <p:txBody>
          <a:bodyPr wrap="square" rtlCol="0" anchor="ctr"/>
          <a:lstStyle/>
          <a:p>
            <a:pPr marL="0" indent="0">
              <a:buNone/>
            </a:pPr>
            <a:r>
              <a:rPr lang="en-US" sz="1100" b="1" dirty="0">
                <a:solidFill>
                  <a:srgbClr val="BFDBFE"/>
                </a:solidFill>
                <a:latin typeface="Calibri" pitchFamily="34" charset="0"/>
                <a:ea typeface="Calibri" pitchFamily="34" charset="-122"/>
                <a:cs typeface="Calibri" pitchFamily="34" charset="-120"/>
              </a:rPr>
              <a:t>Fairlearn</a:t>
            </a:r>
            <a:endParaRPr lang="en-US" sz="1100" dirty="0"/>
          </a:p>
        </p:txBody>
      </p:sp>
      <p:sp>
        <p:nvSpPr>
          <p:cNvPr id="22" name="Text 20"/>
          <p:cNvSpPr/>
          <p:nvPr/>
        </p:nvSpPr>
        <p:spPr>
          <a:xfrm>
            <a:off x="4846320" y="4059936"/>
            <a:ext cx="3749040" cy="292608"/>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Audit de non-discrimination par groupe démographique</a:t>
            </a:r>
            <a:endParaRPr lang="en-US" sz="1000" dirty="0"/>
          </a:p>
        </p:txBody>
      </p:sp>
      <p:sp>
        <p:nvSpPr>
          <p:cNvPr id="23" name="Shape 21"/>
          <p:cNvSpPr/>
          <p:nvPr/>
        </p:nvSpPr>
        <p:spPr>
          <a:xfrm>
            <a:off x="0" y="4892040"/>
            <a:ext cx="9144000" cy="251460"/>
          </a:xfrm>
          <a:prstGeom prst="rect">
            <a:avLst/>
          </a:prstGeom>
          <a:solidFill>
            <a:srgbClr val="0A1A30"/>
          </a:solidFill>
          <a:ln w="12700">
            <a:solidFill>
              <a:srgbClr val="0A1A30"/>
            </a:solidFill>
            <a:prstDash val="solid"/>
          </a:ln>
        </p:spPr>
        <p:txBody>
          <a:bodyPr/>
          <a:lstStyle/>
          <a:p>
            <a:endParaRPr lang="fr-FR"/>
          </a:p>
        </p:txBody>
      </p:sp>
      <p:sp>
        <p:nvSpPr>
          <p:cNvPr id="24" name="Text 22"/>
          <p:cNvSpPr/>
          <p:nvPr/>
        </p:nvSpPr>
        <p:spPr>
          <a:xfrm>
            <a:off x="320040" y="4901184"/>
            <a:ext cx="6400800" cy="22860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Robin Lamy  ·  ECE Paris ING4 Finance IA  ·  2026</a:t>
            </a:r>
            <a:endParaRPr lang="en-US" sz="800" dirty="0"/>
          </a:p>
        </p:txBody>
      </p:sp>
      <p:sp>
        <p:nvSpPr>
          <p:cNvPr id="25" name="Text 23"/>
          <p:cNvSpPr/>
          <p:nvPr/>
        </p:nvSpPr>
        <p:spPr>
          <a:xfrm>
            <a:off x="8229600" y="4901184"/>
            <a:ext cx="640080" cy="22860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3 / 12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201168"/>
            <a:ext cx="54864" cy="292608"/>
          </a:xfrm>
          <a:prstGeom prst="rect">
            <a:avLst/>
          </a:prstGeom>
          <a:solidFill>
            <a:srgbClr val="1D4ED8"/>
          </a:solidFill>
          <a:ln w="12700">
            <a:solidFill>
              <a:srgbClr val="1D4ED8"/>
            </a:solidFill>
            <a:prstDash val="solid"/>
          </a:ln>
        </p:spPr>
        <p:txBody>
          <a:bodyPr/>
          <a:lstStyle/>
          <a:p>
            <a:endParaRPr lang="fr-FR"/>
          </a:p>
        </p:txBody>
      </p:sp>
      <p:sp>
        <p:nvSpPr>
          <p:cNvPr id="3" name="Text 1"/>
          <p:cNvSpPr/>
          <p:nvPr/>
        </p:nvSpPr>
        <p:spPr>
          <a:xfrm>
            <a:off x="502920" y="201168"/>
            <a:ext cx="3657600" cy="292608"/>
          </a:xfrm>
          <a:prstGeom prst="rect">
            <a:avLst/>
          </a:prstGeom>
          <a:noFill/>
          <a:ln/>
        </p:spPr>
        <p:txBody>
          <a:bodyPr wrap="square" lIns="0" tIns="0" rIns="0" bIns="0" rtlCol="0" anchor="ctr"/>
          <a:lstStyle/>
          <a:p>
            <a:pPr marL="0" indent="0">
              <a:buNone/>
            </a:pPr>
            <a:r>
              <a:rPr lang="en-US" sz="900" b="1" kern="0" spc="200" dirty="0">
                <a:solidFill>
                  <a:srgbClr val="1D4ED8"/>
                </a:solidFill>
                <a:latin typeface="Calibri" pitchFamily="34" charset="0"/>
                <a:ea typeface="Calibri" pitchFamily="34" charset="-122"/>
                <a:cs typeface="Calibri" pitchFamily="34" charset="-120"/>
              </a:rPr>
              <a:t>02 — DONNÉES</a:t>
            </a:r>
            <a:endParaRPr lang="en-US" sz="900" dirty="0"/>
          </a:p>
        </p:txBody>
      </p:sp>
      <p:sp>
        <p:nvSpPr>
          <p:cNvPr id="4" name="Text 2"/>
          <p:cNvSpPr/>
          <p:nvPr/>
        </p:nvSpPr>
        <p:spPr>
          <a:xfrm>
            <a:off x="365760" y="548640"/>
            <a:ext cx="8412480" cy="502920"/>
          </a:xfrm>
          <a:prstGeom prst="rect">
            <a:avLst/>
          </a:prstGeom>
          <a:noFill/>
          <a:ln/>
        </p:spPr>
        <p:txBody>
          <a:bodyPr wrap="square" rtlCol="0" anchor="ctr"/>
          <a:lstStyle/>
          <a:p>
            <a:pPr marL="0" indent="0">
              <a:buNone/>
            </a:pPr>
            <a:r>
              <a:rPr lang="en-US" sz="2600" b="1" dirty="0">
                <a:solidFill>
                  <a:srgbClr val="1E293B"/>
                </a:solidFill>
                <a:latin typeface="Calibri Light" pitchFamily="34" charset="0"/>
                <a:ea typeface="Calibri Light" pitchFamily="34" charset="-122"/>
                <a:cs typeface="Calibri Light" pitchFamily="34" charset="-120"/>
              </a:rPr>
              <a:t>German Credit Dataset</a:t>
            </a:r>
            <a:endParaRPr lang="en-US" sz="2600" dirty="0"/>
          </a:p>
        </p:txBody>
      </p:sp>
      <p:sp>
        <p:nvSpPr>
          <p:cNvPr id="5" name="Shape 3"/>
          <p:cNvSpPr/>
          <p:nvPr/>
        </p:nvSpPr>
        <p:spPr>
          <a:xfrm>
            <a:off x="365760" y="1234440"/>
            <a:ext cx="2560320" cy="1143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6" name="Shape 4"/>
          <p:cNvSpPr/>
          <p:nvPr/>
        </p:nvSpPr>
        <p:spPr>
          <a:xfrm>
            <a:off x="365760" y="1234440"/>
            <a:ext cx="73152" cy="1143000"/>
          </a:xfrm>
          <a:prstGeom prst="rect">
            <a:avLst/>
          </a:prstGeom>
          <a:solidFill>
            <a:srgbClr val="1D4ED8"/>
          </a:solidFill>
          <a:ln w="12700">
            <a:solidFill>
              <a:srgbClr val="1D4ED8"/>
            </a:solidFill>
            <a:prstDash val="solid"/>
          </a:ln>
        </p:spPr>
        <p:txBody>
          <a:bodyPr/>
          <a:lstStyle/>
          <a:p>
            <a:endParaRPr lang="fr-FR"/>
          </a:p>
        </p:txBody>
      </p:sp>
      <p:sp>
        <p:nvSpPr>
          <p:cNvPr id="7" name="Text 5"/>
          <p:cNvSpPr/>
          <p:nvPr/>
        </p:nvSpPr>
        <p:spPr>
          <a:xfrm>
            <a:off x="548640" y="1371600"/>
            <a:ext cx="2286000" cy="594360"/>
          </a:xfrm>
          <a:prstGeom prst="rect">
            <a:avLst/>
          </a:prstGeom>
          <a:noFill/>
          <a:ln/>
        </p:spPr>
        <p:txBody>
          <a:bodyPr wrap="square" rtlCol="0" anchor="ctr"/>
          <a:lstStyle/>
          <a:p>
            <a:pPr marL="0" indent="0">
              <a:buNone/>
            </a:pPr>
            <a:r>
              <a:rPr lang="en-US" sz="3600" b="1" dirty="0">
                <a:solidFill>
                  <a:srgbClr val="1D4ED8"/>
                </a:solidFill>
                <a:latin typeface="Calibri Light" pitchFamily="34" charset="0"/>
                <a:ea typeface="Calibri Light" pitchFamily="34" charset="-122"/>
                <a:cs typeface="Calibri Light" pitchFamily="34" charset="-120"/>
              </a:rPr>
              <a:t>1 000</a:t>
            </a:r>
            <a:endParaRPr lang="en-US" sz="3600" dirty="0"/>
          </a:p>
        </p:txBody>
      </p:sp>
      <p:sp>
        <p:nvSpPr>
          <p:cNvPr id="8" name="Text 6"/>
          <p:cNvSpPr/>
          <p:nvPr/>
        </p:nvSpPr>
        <p:spPr>
          <a:xfrm>
            <a:off x="548640" y="1920240"/>
            <a:ext cx="2286000" cy="365760"/>
          </a:xfrm>
          <a:prstGeom prst="rect">
            <a:avLst/>
          </a:prstGeom>
          <a:noFill/>
          <a:ln/>
        </p:spPr>
        <p:txBody>
          <a:bodyPr wrap="square" rtlCol="0" anchor="t"/>
          <a:lstStyle/>
          <a:p>
            <a:pPr marL="0" indent="0">
              <a:buNone/>
            </a:pPr>
            <a:r>
              <a:rPr lang="en-US" sz="1100" dirty="0">
                <a:solidFill>
                  <a:srgbClr val="475569"/>
                </a:solidFill>
                <a:latin typeface="Calibri" pitchFamily="34" charset="0"/>
                <a:ea typeface="Calibri" pitchFamily="34" charset="-122"/>
                <a:cs typeface="Calibri" pitchFamily="34" charset="-120"/>
              </a:rPr>
              <a:t>demandes de crédit</a:t>
            </a:r>
            <a:endParaRPr lang="en-US" sz="1100" dirty="0"/>
          </a:p>
        </p:txBody>
      </p:sp>
      <p:sp>
        <p:nvSpPr>
          <p:cNvPr id="9" name="Shape 7"/>
          <p:cNvSpPr/>
          <p:nvPr/>
        </p:nvSpPr>
        <p:spPr>
          <a:xfrm>
            <a:off x="3246120" y="1234440"/>
            <a:ext cx="2560320" cy="1143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0" name="Shape 8"/>
          <p:cNvSpPr/>
          <p:nvPr/>
        </p:nvSpPr>
        <p:spPr>
          <a:xfrm>
            <a:off x="3246120" y="1234440"/>
            <a:ext cx="73152" cy="1143000"/>
          </a:xfrm>
          <a:prstGeom prst="rect">
            <a:avLst/>
          </a:prstGeom>
          <a:solidFill>
            <a:srgbClr val="1D4ED8"/>
          </a:solidFill>
          <a:ln w="12700">
            <a:solidFill>
              <a:srgbClr val="1D4ED8"/>
            </a:solidFill>
            <a:prstDash val="solid"/>
          </a:ln>
        </p:spPr>
        <p:txBody>
          <a:bodyPr/>
          <a:lstStyle/>
          <a:p>
            <a:endParaRPr lang="fr-FR"/>
          </a:p>
        </p:txBody>
      </p:sp>
      <p:sp>
        <p:nvSpPr>
          <p:cNvPr id="11" name="Text 9"/>
          <p:cNvSpPr/>
          <p:nvPr/>
        </p:nvSpPr>
        <p:spPr>
          <a:xfrm>
            <a:off x="3429000" y="1371600"/>
            <a:ext cx="2286000" cy="594360"/>
          </a:xfrm>
          <a:prstGeom prst="rect">
            <a:avLst/>
          </a:prstGeom>
          <a:noFill/>
          <a:ln/>
        </p:spPr>
        <p:txBody>
          <a:bodyPr wrap="square" rtlCol="0" anchor="ctr"/>
          <a:lstStyle/>
          <a:p>
            <a:pPr marL="0" indent="0">
              <a:buNone/>
            </a:pPr>
            <a:r>
              <a:rPr lang="en-US" sz="3600" b="1" dirty="0">
                <a:solidFill>
                  <a:srgbClr val="1D4ED8"/>
                </a:solidFill>
                <a:latin typeface="Calibri Light" pitchFamily="34" charset="0"/>
                <a:ea typeface="Calibri Light" pitchFamily="34" charset="-122"/>
                <a:cs typeface="Calibri Light" pitchFamily="34" charset="-120"/>
              </a:rPr>
              <a:t>20</a:t>
            </a:r>
            <a:endParaRPr lang="en-US" sz="3600" dirty="0"/>
          </a:p>
        </p:txBody>
      </p:sp>
      <p:sp>
        <p:nvSpPr>
          <p:cNvPr id="12" name="Text 10"/>
          <p:cNvSpPr/>
          <p:nvPr/>
        </p:nvSpPr>
        <p:spPr>
          <a:xfrm>
            <a:off x="3429000" y="1920240"/>
            <a:ext cx="2286000" cy="365760"/>
          </a:xfrm>
          <a:prstGeom prst="rect">
            <a:avLst/>
          </a:prstGeom>
          <a:noFill/>
          <a:ln/>
        </p:spPr>
        <p:txBody>
          <a:bodyPr wrap="square" rtlCol="0" anchor="t"/>
          <a:lstStyle/>
          <a:p>
            <a:pPr marL="0" indent="0">
              <a:buNone/>
            </a:pPr>
            <a:r>
              <a:rPr lang="en-US" sz="1100" dirty="0">
                <a:solidFill>
                  <a:srgbClr val="475569"/>
                </a:solidFill>
                <a:latin typeface="Calibri" pitchFamily="34" charset="0"/>
                <a:ea typeface="Calibri" pitchFamily="34" charset="-122"/>
                <a:cs typeface="Calibri" pitchFamily="34" charset="-120"/>
              </a:rPr>
              <a:t>variables par demande</a:t>
            </a:r>
            <a:endParaRPr lang="en-US" sz="1100" dirty="0"/>
          </a:p>
        </p:txBody>
      </p:sp>
      <p:sp>
        <p:nvSpPr>
          <p:cNvPr id="13" name="Shape 11"/>
          <p:cNvSpPr/>
          <p:nvPr/>
        </p:nvSpPr>
        <p:spPr>
          <a:xfrm>
            <a:off x="6126480" y="1234440"/>
            <a:ext cx="2560320" cy="11430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4" name="Shape 12"/>
          <p:cNvSpPr/>
          <p:nvPr/>
        </p:nvSpPr>
        <p:spPr>
          <a:xfrm>
            <a:off x="6126480" y="1234440"/>
            <a:ext cx="73152" cy="1143000"/>
          </a:xfrm>
          <a:prstGeom prst="rect">
            <a:avLst/>
          </a:prstGeom>
          <a:solidFill>
            <a:srgbClr val="D97706"/>
          </a:solidFill>
          <a:ln w="12700">
            <a:solidFill>
              <a:srgbClr val="D97706"/>
            </a:solidFill>
            <a:prstDash val="solid"/>
          </a:ln>
        </p:spPr>
        <p:txBody>
          <a:bodyPr/>
          <a:lstStyle/>
          <a:p>
            <a:endParaRPr lang="fr-FR"/>
          </a:p>
        </p:txBody>
      </p:sp>
      <p:sp>
        <p:nvSpPr>
          <p:cNvPr id="15" name="Text 13"/>
          <p:cNvSpPr/>
          <p:nvPr/>
        </p:nvSpPr>
        <p:spPr>
          <a:xfrm>
            <a:off x="6309360" y="1371600"/>
            <a:ext cx="2286000" cy="594360"/>
          </a:xfrm>
          <a:prstGeom prst="rect">
            <a:avLst/>
          </a:prstGeom>
          <a:noFill/>
          <a:ln/>
        </p:spPr>
        <p:txBody>
          <a:bodyPr wrap="square" rtlCol="0" anchor="ctr"/>
          <a:lstStyle/>
          <a:p>
            <a:pPr marL="0" indent="0">
              <a:buNone/>
            </a:pPr>
            <a:r>
              <a:rPr lang="en-US" sz="3600" b="1" dirty="0">
                <a:solidFill>
                  <a:srgbClr val="D97706"/>
                </a:solidFill>
                <a:latin typeface="Calibri Light" pitchFamily="34" charset="0"/>
                <a:ea typeface="Calibri Light" pitchFamily="34" charset="-122"/>
                <a:cs typeface="Calibri Light" pitchFamily="34" charset="-120"/>
              </a:rPr>
              <a:t>70 / 30</a:t>
            </a:r>
            <a:endParaRPr lang="en-US" sz="3600" dirty="0"/>
          </a:p>
        </p:txBody>
      </p:sp>
      <p:sp>
        <p:nvSpPr>
          <p:cNvPr id="16" name="Text 14"/>
          <p:cNvSpPr/>
          <p:nvPr/>
        </p:nvSpPr>
        <p:spPr>
          <a:xfrm>
            <a:off x="6309360" y="1920240"/>
            <a:ext cx="2286000" cy="365760"/>
          </a:xfrm>
          <a:prstGeom prst="rect">
            <a:avLst/>
          </a:prstGeom>
          <a:noFill/>
          <a:ln/>
        </p:spPr>
        <p:txBody>
          <a:bodyPr wrap="square" rtlCol="0" anchor="t"/>
          <a:lstStyle/>
          <a:p>
            <a:pPr marL="0" indent="0">
              <a:buNone/>
            </a:pPr>
            <a:r>
              <a:rPr lang="en-US" sz="1100" dirty="0">
                <a:solidFill>
                  <a:srgbClr val="475569"/>
                </a:solidFill>
                <a:latin typeface="Calibri" pitchFamily="34" charset="0"/>
                <a:ea typeface="Calibri" pitchFamily="34" charset="-122"/>
                <a:cs typeface="Calibri" pitchFamily="34" charset="-120"/>
              </a:rPr>
              <a:t>bons / mauvais clients</a:t>
            </a:r>
            <a:endParaRPr lang="en-US" sz="1100" dirty="0"/>
          </a:p>
        </p:txBody>
      </p:sp>
      <p:sp>
        <p:nvSpPr>
          <p:cNvPr id="17" name="Shape 15"/>
          <p:cNvSpPr/>
          <p:nvPr/>
        </p:nvSpPr>
        <p:spPr>
          <a:xfrm>
            <a:off x="365760" y="2606040"/>
            <a:ext cx="8412480" cy="21031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8" name="Text 16"/>
          <p:cNvSpPr/>
          <p:nvPr/>
        </p:nvSpPr>
        <p:spPr>
          <a:xfrm>
            <a:off x="548640" y="2697480"/>
            <a:ext cx="3657600" cy="32004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Variables clés</a:t>
            </a:r>
            <a:endParaRPr lang="en-US" sz="1200" dirty="0"/>
          </a:p>
        </p:txBody>
      </p:sp>
      <p:sp>
        <p:nvSpPr>
          <p:cNvPr id="19" name="Shape 17"/>
          <p:cNvSpPr/>
          <p:nvPr/>
        </p:nvSpPr>
        <p:spPr>
          <a:xfrm>
            <a:off x="502920" y="3090672"/>
            <a:ext cx="54864" cy="292608"/>
          </a:xfrm>
          <a:prstGeom prst="rect">
            <a:avLst/>
          </a:prstGeom>
          <a:solidFill>
            <a:srgbClr val="1D4ED8"/>
          </a:solidFill>
          <a:ln w="12700">
            <a:solidFill>
              <a:srgbClr val="1D4ED8"/>
            </a:solidFill>
            <a:prstDash val="solid"/>
          </a:ln>
        </p:spPr>
        <p:txBody>
          <a:bodyPr/>
          <a:lstStyle/>
          <a:p>
            <a:endParaRPr lang="fr-FR"/>
          </a:p>
        </p:txBody>
      </p:sp>
      <p:sp>
        <p:nvSpPr>
          <p:cNvPr id="20" name="Text 18"/>
          <p:cNvSpPr/>
          <p:nvPr/>
        </p:nvSpPr>
        <p:spPr>
          <a:xfrm>
            <a:off x="640080" y="3090672"/>
            <a:ext cx="1463040" cy="29260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Financières :</a:t>
            </a:r>
            <a:endParaRPr lang="en-US" sz="1100" dirty="0"/>
          </a:p>
        </p:txBody>
      </p:sp>
      <p:sp>
        <p:nvSpPr>
          <p:cNvPr id="21" name="Text 19"/>
          <p:cNvSpPr/>
          <p:nvPr/>
        </p:nvSpPr>
        <p:spPr>
          <a:xfrm>
            <a:off x="2103120" y="3090672"/>
            <a:ext cx="6492240" cy="292608"/>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Compte courant · Épargne · Montant · Durée · Historique crédit</a:t>
            </a:r>
            <a:endParaRPr lang="en-US" sz="1100" dirty="0"/>
          </a:p>
        </p:txBody>
      </p:sp>
      <p:sp>
        <p:nvSpPr>
          <p:cNvPr id="22" name="Shape 20"/>
          <p:cNvSpPr/>
          <p:nvPr/>
        </p:nvSpPr>
        <p:spPr>
          <a:xfrm>
            <a:off x="502920" y="3593592"/>
            <a:ext cx="54864" cy="292608"/>
          </a:xfrm>
          <a:prstGeom prst="rect">
            <a:avLst/>
          </a:prstGeom>
          <a:solidFill>
            <a:srgbClr val="1D4ED8"/>
          </a:solidFill>
          <a:ln w="12700">
            <a:solidFill>
              <a:srgbClr val="1D4ED8"/>
            </a:solidFill>
            <a:prstDash val="solid"/>
          </a:ln>
        </p:spPr>
        <p:txBody>
          <a:bodyPr/>
          <a:lstStyle/>
          <a:p>
            <a:endParaRPr lang="fr-FR"/>
          </a:p>
        </p:txBody>
      </p:sp>
      <p:sp>
        <p:nvSpPr>
          <p:cNvPr id="23" name="Text 21"/>
          <p:cNvSpPr/>
          <p:nvPr/>
        </p:nvSpPr>
        <p:spPr>
          <a:xfrm>
            <a:off x="640080" y="3593592"/>
            <a:ext cx="1463040" cy="29260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Personnelles :</a:t>
            </a:r>
            <a:endParaRPr lang="en-US" sz="1100" dirty="0"/>
          </a:p>
        </p:txBody>
      </p:sp>
      <p:sp>
        <p:nvSpPr>
          <p:cNvPr id="24" name="Text 22"/>
          <p:cNvSpPr/>
          <p:nvPr/>
        </p:nvSpPr>
        <p:spPr>
          <a:xfrm>
            <a:off x="2103120" y="3593592"/>
            <a:ext cx="6492240" cy="292608"/>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Âge · Situation familiale · Emploi · Catégorie professionnelle</a:t>
            </a:r>
            <a:endParaRPr lang="en-US" sz="1100" dirty="0"/>
          </a:p>
        </p:txBody>
      </p:sp>
      <p:sp>
        <p:nvSpPr>
          <p:cNvPr id="25" name="Shape 23"/>
          <p:cNvSpPr/>
          <p:nvPr/>
        </p:nvSpPr>
        <p:spPr>
          <a:xfrm>
            <a:off x="502920" y="4096512"/>
            <a:ext cx="54864" cy="292608"/>
          </a:xfrm>
          <a:prstGeom prst="rect">
            <a:avLst/>
          </a:prstGeom>
          <a:solidFill>
            <a:srgbClr val="1D4ED8"/>
          </a:solidFill>
          <a:ln w="12700">
            <a:solidFill>
              <a:srgbClr val="1D4ED8"/>
            </a:solidFill>
            <a:prstDash val="solid"/>
          </a:ln>
        </p:spPr>
        <p:txBody>
          <a:bodyPr/>
          <a:lstStyle/>
          <a:p>
            <a:endParaRPr lang="fr-FR"/>
          </a:p>
        </p:txBody>
      </p:sp>
      <p:sp>
        <p:nvSpPr>
          <p:cNvPr id="26" name="Text 24"/>
          <p:cNvSpPr/>
          <p:nvPr/>
        </p:nvSpPr>
        <p:spPr>
          <a:xfrm>
            <a:off x="640080" y="4096512"/>
            <a:ext cx="1463040" cy="292608"/>
          </a:xfrm>
          <a:prstGeom prst="rect">
            <a:avLst/>
          </a:prstGeom>
          <a:noFill/>
          <a:ln/>
        </p:spPr>
        <p:txBody>
          <a:bodyPr wrap="square" lIns="0" tIns="0" rIns="0" bIns="0"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Patrimoniales :</a:t>
            </a:r>
            <a:endParaRPr lang="en-US" sz="1100" dirty="0"/>
          </a:p>
        </p:txBody>
      </p:sp>
      <p:sp>
        <p:nvSpPr>
          <p:cNvPr id="27" name="Text 25"/>
          <p:cNvSpPr/>
          <p:nvPr/>
        </p:nvSpPr>
        <p:spPr>
          <a:xfrm>
            <a:off x="2103120" y="4096512"/>
            <a:ext cx="6492240" cy="292608"/>
          </a:xfrm>
          <a:prstGeom prst="rect">
            <a:avLst/>
          </a:prstGeom>
          <a:noFill/>
          <a:ln/>
        </p:spPr>
        <p:txBody>
          <a:bodyPr wrap="square" rtlCol="0" anchor="ctr"/>
          <a:lstStyle/>
          <a:p>
            <a:pPr marL="0" indent="0">
              <a:buNone/>
            </a:pPr>
            <a:r>
              <a:rPr lang="en-US" sz="1100" dirty="0">
                <a:solidFill>
                  <a:srgbClr val="374151"/>
                </a:solidFill>
                <a:latin typeface="Calibri" pitchFamily="34" charset="0"/>
                <a:ea typeface="Calibri" pitchFamily="34" charset="-122"/>
                <a:cs typeface="Calibri" pitchFamily="34" charset="-120"/>
              </a:rPr>
              <a:t>Logement (proprio/locataire) · Bien principal · Ancienneté adresse</a:t>
            </a:r>
            <a:endParaRPr lang="en-US" sz="1100" dirty="0"/>
          </a:p>
        </p:txBody>
      </p:sp>
      <p:sp>
        <p:nvSpPr>
          <p:cNvPr id="28" name="Shape 26"/>
          <p:cNvSpPr/>
          <p:nvPr/>
        </p:nvSpPr>
        <p:spPr>
          <a:xfrm>
            <a:off x="365760" y="4572000"/>
            <a:ext cx="8412480" cy="256032"/>
          </a:xfrm>
          <a:prstGeom prst="rect">
            <a:avLst/>
          </a:prstGeom>
          <a:solidFill>
            <a:srgbClr val="FFFBEB"/>
          </a:solidFill>
          <a:ln w="12700">
            <a:solidFill>
              <a:srgbClr val="FDE68A"/>
            </a:solidFill>
            <a:prstDash val="solid"/>
          </a:ln>
        </p:spPr>
        <p:txBody>
          <a:bodyPr/>
          <a:lstStyle/>
          <a:p>
            <a:endParaRPr lang="fr-FR"/>
          </a:p>
        </p:txBody>
      </p:sp>
      <p:sp>
        <p:nvSpPr>
          <p:cNvPr id="29" name="Text 27"/>
          <p:cNvSpPr/>
          <p:nvPr/>
        </p:nvSpPr>
        <p:spPr>
          <a:xfrm>
            <a:off x="502920" y="4590288"/>
            <a:ext cx="8229600" cy="219456"/>
          </a:xfrm>
          <a:prstGeom prst="rect">
            <a:avLst/>
          </a:prstGeom>
          <a:noFill/>
          <a:ln/>
        </p:spPr>
        <p:txBody>
          <a:bodyPr wrap="square" rtlCol="0" anchor="ctr"/>
          <a:lstStyle/>
          <a:p>
            <a:pPr marL="0" indent="0">
              <a:buNone/>
            </a:pPr>
            <a:r>
              <a:rPr lang="en-US" sz="950" dirty="0">
                <a:solidFill>
                  <a:srgbClr val="D97706"/>
                </a:solidFill>
                <a:latin typeface="Calibri" pitchFamily="34" charset="0"/>
                <a:ea typeface="Calibri" pitchFamily="34" charset="-122"/>
                <a:cs typeface="Calibri" pitchFamily="34" charset="-120"/>
              </a:rPr>
              <a:t>Déséquilibre 70/30 — scale_pos_weight=2.0 appliqué à XGBoost pour pénaliser les erreurs sur les mauvais clients.</a:t>
            </a:r>
            <a:endParaRPr lang="en-US" sz="950" dirty="0"/>
          </a:p>
        </p:txBody>
      </p:sp>
      <p:sp>
        <p:nvSpPr>
          <p:cNvPr id="30" name="Shape 28"/>
          <p:cNvSpPr/>
          <p:nvPr/>
        </p:nvSpPr>
        <p:spPr>
          <a:xfrm>
            <a:off x="0" y="4892040"/>
            <a:ext cx="9144000" cy="251460"/>
          </a:xfrm>
          <a:prstGeom prst="rect">
            <a:avLst/>
          </a:prstGeom>
          <a:solidFill>
            <a:srgbClr val="0A1A30"/>
          </a:solidFill>
          <a:ln w="12700">
            <a:solidFill>
              <a:srgbClr val="0A1A30"/>
            </a:solidFill>
            <a:prstDash val="solid"/>
          </a:ln>
        </p:spPr>
        <p:txBody>
          <a:bodyPr/>
          <a:lstStyle/>
          <a:p>
            <a:endParaRPr lang="fr-FR"/>
          </a:p>
        </p:txBody>
      </p:sp>
      <p:sp>
        <p:nvSpPr>
          <p:cNvPr id="31" name="Text 29"/>
          <p:cNvSpPr/>
          <p:nvPr/>
        </p:nvSpPr>
        <p:spPr>
          <a:xfrm>
            <a:off x="320040" y="4901184"/>
            <a:ext cx="6400800" cy="22860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Robin Lamy  ·  ECE Paris ING4 Finance IA  ·  2026</a:t>
            </a:r>
            <a:endParaRPr lang="en-US" sz="800" dirty="0"/>
          </a:p>
        </p:txBody>
      </p:sp>
      <p:sp>
        <p:nvSpPr>
          <p:cNvPr id="32" name="Text 30"/>
          <p:cNvSpPr/>
          <p:nvPr/>
        </p:nvSpPr>
        <p:spPr>
          <a:xfrm>
            <a:off x="8229600" y="4901184"/>
            <a:ext cx="640080" cy="22860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4 / 12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201168"/>
            <a:ext cx="54864" cy="292608"/>
          </a:xfrm>
          <a:prstGeom prst="rect">
            <a:avLst/>
          </a:prstGeom>
          <a:solidFill>
            <a:srgbClr val="1D4ED8"/>
          </a:solidFill>
          <a:ln w="12700">
            <a:solidFill>
              <a:srgbClr val="1D4ED8"/>
            </a:solidFill>
            <a:prstDash val="solid"/>
          </a:ln>
        </p:spPr>
        <p:txBody>
          <a:bodyPr/>
          <a:lstStyle/>
          <a:p>
            <a:endParaRPr lang="fr-FR"/>
          </a:p>
        </p:txBody>
      </p:sp>
      <p:sp>
        <p:nvSpPr>
          <p:cNvPr id="3" name="Text 1"/>
          <p:cNvSpPr/>
          <p:nvPr/>
        </p:nvSpPr>
        <p:spPr>
          <a:xfrm>
            <a:off x="502920" y="201168"/>
            <a:ext cx="3657600" cy="292608"/>
          </a:xfrm>
          <a:prstGeom prst="rect">
            <a:avLst/>
          </a:prstGeom>
          <a:noFill/>
          <a:ln/>
        </p:spPr>
        <p:txBody>
          <a:bodyPr wrap="square" lIns="0" tIns="0" rIns="0" bIns="0" rtlCol="0" anchor="ctr"/>
          <a:lstStyle/>
          <a:p>
            <a:pPr marL="0" indent="0">
              <a:buNone/>
            </a:pPr>
            <a:r>
              <a:rPr lang="en-US" sz="900" b="1" kern="0" spc="200" dirty="0">
                <a:solidFill>
                  <a:srgbClr val="1D4ED8"/>
                </a:solidFill>
                <a:latin typeface="Calibri" pitchFamily="34" charset="0"/>
                <a:ea typeface="Calibri" pitchFamily="34" charset="-122"/>
                <a:cs typeface="Calibri" pitchFamily="34" charset="-120"/>
              </a:rPr>
              <a:t>03 — MODÈLES ML</a:t>
            </a:r>
            <a:endParaRPr lang="en-US" sz="900" dirty="0"/>
          </a:p>
        </p:txBody>
      </p:sp>
      <p:sp>
        <p:nvSpPr>
          <p:cNvPr id="4" name="Text 2"/>
          <p:cNvSpPr/>
          <p:nvPr/>
        </p:nvSpPr>
        <p:spPr>
          <a:xfrm>
            <a:off x="365760" y="548640"/>
            <a:ext cx="8412480" cy="502920"/>
          </a:xfrm>
          <a:prstGeom prst="rect">
            <a:avLst/>
          </a:prstGeom>
          <a:noFill/>
          <a:ln/>
        </p:spPr>
        <p:txBody>
          <a:bodyPr wrap="square" rtlCol="0" anchor="ctr"/>
          <a:lstStyle/>
          <a:p>
            <a:pPr marL="0" indent="0">
              <a:buNone/>
            </a:pPr>
            <a:r>
              <a:rPr lang="en-US" sz="2600" b="1" dirty="0">
                <a:solidFill>
                  <a:srgbClr val="1E293B"/>
                </a:solidFill>
                <a:latin typeface="Calibri Light" pitchFamily="34" charset="0"/>
                <a:ea typeface="Calibri Light" pitchFamily="34" charset="-122"/>
                <a:cs typeface="Calibri Light" pitchFamily="34" charset="-120"/>
              </a:rPr>
              <a:t>Entraînement &amp; évaluation</a:t>
            </a:r>
            <a:endParaRPr lang="en-US" sz="2600" dirty="0"/>
          </a:p>
        </p:txBody>
      </p:sp>
      <p:sp>
        <p:nvSpPr>
          <p:cNvPr id="5" name="Shape 3"/>
          <p:cNvSpPr/>
          <p:nvPr/>
        </p:nvSpPr>
        <p:spPr>
          <a:xfrm>
            <a:off x="365760" y="1188720"/>
            <a:ext cx="8412480" cy="20116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6" name="Shape 4"/>
          <p:cNvSpPr/>
          <p:nvPr/>
        </p:nvSpPr>
        <p:spPr>
          <a:xfrm>
            <a:off x="411480" y="1234440"/>
            <a:ext cx="2651760" cy="347472"/>
          </a:xfrm>
          <a:prstGeom prst="rect">
            <a:avLst/>
          </a:prstGeom>
          <a:solidFill>
            <a:srgbClr val="0F2444"/>
          </a:solidFill>
          <a:ln w="12700">
            <a:solidFill>
              <a:srgbClr val="0F2444"/>
            </a:solidFill>
            <a:prstDash val="solid"/>
          </a:ln>
        </p:spPr>
        <p:txBody>
          <a:bodyPr/>
          <a:lstStyle/>
          <a:p>
            <a:endParaRPr lang="fr-FR"/>
          </a:p>
        </p:txBody>
      </p:sp>
      <p:sp>
        <p:nvSpPr>
          <p:cNvPr id="7" name="Text 5"/>
          <p:cNvSpPr/>
          <p:nvPr/>
        </p:nvSpPr>
        <p:spPr>
          <a:xfrm>
            <a:off x="502920" y="1261872"/>
            <a:ext cx="256032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Modèle</a:t>
            </a:r>
            <a:endParaRPr lang="en-US" sz="1100" dirty="0"/>
          </a:p>
        </p:txBody>
      </p:sp>
      <p:sp>
        <p:nvSpPr>
          <p:cNvPr id="8" name="Shape 6"/>
          <p:cNvSpPr/>
          <p:nvPr/>
        </p:nvSpPr>
        <p:spPr>
          <a:xfrm>
            <a:off x="2971800" y="1234440"/>
            <a:ext cx="2377440" cy="347472"/>
          </a:xfrm>
          <a:prstGeom prst="rect">
            <a:avLst/>
          </a:prstGeom>
          <a:solidFill>
            <a:srgbClr val="0F2444"/>
          </a:solidFill>
          <a:ln w="12700">
            <a:solidFill>
              <a:srgbClr val="0F2444"/>
            </a:solidFill>
            <a:prstDash val="solid"/>
          </a:ln>
        </p:spPr>
        <p:txBody>
          <a:bodyPr/>
          <a:lstStyle/>
          <a:p>
            <a:endParaRPr lang="fr-FR"/>
          </a:p>
        </p:txBody>
      </p:sp>
      <p:sp>
        <p:nvSpPr>
          <p:cNvPr id="9" name="Text 7"/>
          <p:cNvSpPr/>
          <p:nvPr/>
        </p:nvSpPr>
        <p:spPr>
          <a:xfrm>
            <a:off x="3063240" y="1261872"/>
            <a:ext cx="228600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AUC-ROC</a:t>
            </a:r>
            <a:endParaRPr lang="en-US" sz="1100" dirty="0"/>
          </a:p>
        </p:txBody>
      </p:sp>
      <p:sp>
        <p:nvSpPr>
          <p:cNvPr id="10" name="Shape 8"/>
          <p:cNvSpPr/>
          <p:nvPr/>
        </p:nvSpPr>
        <p:spPr>
          <a:xfrm>
            <a:off x="5257800" y="1234440"/>
            <a:ext cx="2377440" cy="347472"/>
          </a:xfrm>
          <a:prstGeom prst="rect">
            <a:avLst/>
          </a:prstGeom>
          <a:solidFill>
            <a:srgbClr val="0F2444"/>
          </a:solidFill>
          <a:ln w="12700">
            <a:solidFill>
              <a:srgbClr val="0F2444"/>
            </a:solidFill>
            <a:prstDash val="solid"/>
          </a:ln>
        </p:spPr>
        <p:txBody>
          <a:bodyPr/>
          <a:lstStyle/>
          <a:p>
            <a:endParaRPr lang="fr-FR"/>
          </a:p>
        </p:txBody>
      </p:sp>
      <p:sp>
        <p:nvSpPr>
          <p:cNvPr id="11" name="Text 9"/>
          <p:cNvSpPr/>
          <p:nvPr/>
        </p:nvSpPr>
        <p:spPr>
          <a:xfrm>
            <a:off x="5349240" y="1261872"/>
            <a:ext cx="228600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AUPRC</a:t>
            </a:r>
            <a:endParaRPr lang="en-US" sz="1100" dirty="0"/>
          </a:p>
        </p:txBody>
      </p:sp>
      <p:sp>
        <p:nvSpPr>
          <p:cNvPr id="12" name="Shape 10"/>
          <p:cNvSpPr/>
          <p:nvPr/>
        </p:nvSpPr>
        <p:spPr>
          <a:xfrm>
            <a:off x="7543800" y="1234440"/>
            <a:ext cx="1371600" cy="347472"/>
          </a:xfrm>
          <a:prstGeom prst="rect">
            <a:avLst/>
          </a:prstGeom>
          <a:solidFill>
            <a:srgbClr val="0F2444"/>
          </a:solidFill>
          <a:ln w="12700">
            <a:solidFill>
              <a:srgbClr val="0F2444"/>
            </a:solidFill>
            <a:prstDash val="solid"/>
          </a:ln>
        </p:spPr>
        <p:txBody>
          <a:bodyPr/>
          <a:lstStyle/>
          <a:p>
            <a:endParaRPr lang="fr-FR"/>
          </a:p>
        </p:txBody>
      </p:sp>
      <p:sp>
        <p:nvSpPr>
          <p:cNvPr id="13" name="Text 11"/>
          <p:cNvSpPr/>
          <p:nvPr/>
        </p:nvSpPr>
        <p:spPr>
          <a:xfrm>
            <a:off x="7635240" y="1261872"/>
            <a:ext cx="12801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Interprétable</a:t>
            </a:r>
            <a:endParaRPr lang="en-US" sz="1100" dirty="0"/>
          </a:p>
        </p:txBody>
      </p:sp>
      <p:sp>
        <p:nvSpPr>
          <p:cNvPr id="14" name="Shape 12"/>
          <p:cNvSpPr/>
          <p:nvPr/>
        </p:nvSpPr>
        <p:spPr>
          <a:xfrm>
            <a:off x="411480" y="1591056"/>
            <a:ext cx="8321040" cy="457200"/>
          </a:xfrm>
          <a:prstGeom prst="rect">
            <a:avLst/>
          </a:prstGeom>
          <a:solidFill>
            <a:srgbClr val="EFF6FF"/>
          </a:solidFill>
          <a:ln w="12700">
            <a:solidFill>
              <a:srgbClr val="BFDBFE"/>
            </a:solidFill>
            <a:prstDash val="solid"/>
          </a:ln>
        </p:spPr>
        <p:txBody>
          <a:bodyPr/>
          <a:lstStyle/>
          <a:p>
            <a:endParaRPr lang="fr-FR"/>
          </a:p>
        </p:txBody>
      </p:sp>
      <p:sp>
        <p:nvSpPr>
          <p:cNvPr id="15" name="Text 13"/>
          <p:cNvSpPr/>
          <p:nvPr/>
        </p:nvSpPr>
        <p:spPr>
          <a:xfrm>
            <a:off x="502920" y="1627632"/>
            <a:ext cx="2560320" cy="384048"/>
          </a:xfrm>
          <a:prstGeom prst="rect">
            <a:avLst/>
          </a:prstGeom>
          <a:noFill/>
          <a:ln/>
        </p:spPr>
        <p:txBody>
          <a:bodyPr wrap="square" rtlCol="0" anchor="ctr"/>
          <a:lstStyle/>
          <a:p>
            <a:pPr marL="0" indent="0">
              <a:buNone/>
            </a:pPr>
            <a:r>
              <a:rPr lang="en-US" sz="1150" b="1" dirty="0">
                <a:solidFill>
                  <a:srgbClr val="374151"/>
                </a:solidFill>
                <a:latin typeface="Calibri" pitchFamily="34" charset="0"/>
                <a:ea typeface="Calibri" pitchFamily="34" charset="-122"/>
                <a:cs typeface="Calibri" pitchFamily="34" charset="-120"/>
              </a:rPr>
              <a:t>XGBoost (principal)</a:t>
            </a:r>
            <a:endParaRPr lang="en-US" sz="1150" dirty="0"/>
          </a:p>
        </p:txBody>
      </p:sp>
      <p:sp>
        <p:nvSpPr>
          <p:cNvPr id="16" name="Text 14"/>
          <p:cNvSpPr/>
          <p:nvPr/>
        </p:nvSpPr>
        <p:spPr>
          <a:xfrm>
            <a:off x="3063240" y="1627632"/>
            <a:ext cx="2286000" cy="384048"/>
          </a:xfrm>
          <a:prstGeom prst="rect">
            <a:avLst/>
          </a:prstGeom>
          <a:noFill/>
          <a:ln/>
        </p:spPr>
        <p:txBody>
          <a:bodyPr wrap="square" rtlCol="0" anchor="ctr"/>
          <a:lstStyle/>
          <a:p>
            <a:pPr marL="0" indent="0">
              <a:buNone/>
            </a:pPr>
            <a:r>
              <a:rPr lang="en-US" sz="1150" dirty="0">
                <a:solidFill>
                  <a:srgbClr val="1D4ED8"/>
                </a:solidFill>
                <a:latin typeface="Calibri" pitchFamily="34" charset="0"/>
                <a:ea typeface="Calibri" pitchFamily="34" charset="-122"/>
                <a:cs typeface="Calibri" pitchFamily="34" charset="-120"/>
              </a:rPr>
              <a:t>0.765</a:t>
            </a:r>
            <a:endParaRPr lang="en-US" sz="1150" dirty="0"/>
          </a:p>
        </p:txBody>
      </p:sp>
      <p:sp>
        <p:nvSpPr>
          <p:cNvPr id="17" name="Text 15"/>
          <p:cNvSpPr/>
          <p:nvPr/>
        </p:nvSpPr>
        <p:spPr>
          <a:xfrm>
            <a:off x="5349240" y="1627632"/>
            <a:ext cx="2286000" cy="384048"/>
          </a:xfrm>
          <a:prstGeom prst="rect">
            <a:avLst/>
          </a:prstGeom>
          <a:noFill/>
          <a:ln/>
        </p:spPr>
        <p:txBody>
          <a:bodyPr wrap="square" rtlCol="0" anchor="ctr"/>
          <a:lstStyle/>
          <a:p>
            <a:pPr marL="0" indent="0">
              <a:buNone/>
            </a:pPr>
            <a:r>
              <a:rPr lang="en-US" sz="1150" dirty="0">
                <a:solidFill>
                  <a:srgbClr val="1D4ED8"/>
                </a:solidFill>
                <a:latin typeface="Calibri" pitchFamily="34" charset="0"/>
                <a:ea typeface="Calibri" pitchFamily="34" charset="-122"/>
                <a:cs typeface="Calibri" pitchFamily="34" charset="-120"/>
              </a:rPr>
              <a:t>0.874</a:t>
            </a:r>
            <a:endParaRPr lang="en-US" sz="1150" dirty="0"/>
          </a:p>
        </p:txBody>
      </p:sp>
      <p:sp>
        <p:nvSpPr>
          <p:cNvPr id="18" name="Text 16"/>
          <p:cNvSpPr/>
          <p:nvPr/>
        </p:nvSpPr>
        <p:spPr>
          <a:xfrm>
            <a:off x="7635240" y="1627632"/>
            <a:ext cx="1280160" cy="384048"/>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Non → XAI</a:t>
            </a:r>
            <a:endParaRPr lang="en-US" sz="1150" dirty="0"/>
          </a:p>
        </p:txBody>
      </p:sp>
      <p:sp>
        <p:nvSpPr>
          <p:cNvPr id="19" name="Text 17"/>
          <p:cNvSpPr/>
          <p:nvPr/>
        </p:nvSpPr>
        <p:spPr>
          <a:xfrm>
            <a:off x="502920" y="2103120"/>
            <a:ext cx="2560320" cy="384048"/>
          </a:xfrm>
          <a:prstGeom prst="rect">
            <a:avLst/>
          </a:prstGeom>
          <a:noFill/>
          <a:ln/>
        </p:spPr>
        <p:txBody>
          <a:bodyPr wrap="square" rtlCol="0" anchor="ctr"/>
          <a:lstStyle/>
          <a:p>
            <a:pPr marL="0" indent="0">
              <a:buNone/>
            </a:pPr>
            <a:r>
              <a:rPr lang="en-US" sz="1150" dirty="0">
                <a:solidFill>
                  <a:srgbClr val="374151"/>
                </a:solidFill>
                <a:latin typeface="Calibri" pitchFamily="34" charset="0"/>
                <a:ea typeface="Calibri" pitchFamily="34" charset="-122"/>
                <a:cs typeface="Calibri" pitchFamily="34" charset="-120"/>
              </a:rPr>
              <a:t>LightGBM</a:t>
            </a:r>
            <a:endParaRPr lang="en-US" sz="1150" dirty="0"/>
          </a:p>
        </p:txBody>
      </p:sp>
      <p:sp>
        <p:nvSpPr>
          <p:cNvPr id="20" name="Text 18"/>
          <p:cNvSpPr/>
          <p:nvPr/>
        </p:nvSpPr>
        <p:spPr>
          <a:xfrm>
            <a:off x="3063240" y="2103120"/>
            <a:ext cx="2286000" cy="384048"/>
          </a:xfrm>
          <a:prstGeom prst="rect">
            <a:avLst/>
          </a:prstGeom>
          <a:noFill/>
          <a:ln/>
        </p:spPr>
        <p:txBody>
          <a:bodyPr wrap="square" rtlCol="0" anchor="ctr"/>
          <a:lstStyle/>
          <a:p>
            <a:pPr marL="0" indent="0">
              <a:buNone/>
            </a:pPr>
            <a:r>
              <a:rPr lang="en-US" sz="1150" dirty="0">
                <a:solidFill>
                  <a:srgbClr val="374151"/>
                </a:solidFill>
                <a:latin typeface="Calibri" pitchFamily="34" charset="0"/>
                <a:ea typeface="Calibri" pitchFamily="34" charset="-122"/>
                <a:cs typeface="Calibri" pitchFamily="34" charset="-120"/>
              </a:rPr>
              <a:t>0.753</a:t>
            </a:r>
            <a:endParaRPr lang="en-US" sz="1150" dirty="0"/>
          </a:p>
        </p:txBody>
      </p:sp>
      <p:sp>
        <p:nvSpPr>
          <p:cNvPr id="21" name="Text 19"/>
          <p:cNvSpPr/>
          <p:nvPr/>
        </p:nvSpPr>
        <p:spPr>
          <a:xfrm>
            <a:off x="5349240" y="2103120"/>
            <a:ext cx="2286000" cy="384048"/>
          </a:xfrm>
          <a:prstGeom prst="rect">
            <a:avLst/>
          </a:prstGeom>
          <a:noFill/>
          <a:ln/>
        </p:spPr>
        <p:txBody>
          <a:bodyPr wrap="square" rtlCol="0" anchor="ctr"/>
          <a:lstStyle/>
          <a:p>
            <a:pPr marL="0" indent="0">
              <a:buNone/>
            </a:pPr>
            <a:r>
              <a:rPr lang="en-US" sz="1150" dirty="0">
                <a:solidFill>
                  <a:srgbClr val="374151"/>
                </a:solidFill>
                <a:latin typeface="Calibri" pitchFamily="34" charset="0"/>
                <a:ea typeface="Calibri" pitchFamily="34" charset="-122"/>
                <a:cs typeface="Calibri" pitchFamily="34" charset="-120"/>
              </a:rPr>
              <a:t>0.858</a:t>
            </a:r>
            <a:endParaRPr lang="en-US" sz="1150" dirty="0"/>
          </a:p>
        </p:txBody>
      </p:sp>
      <p:sp>
        <p:nvSpPr>
          <p:cNvPr id="22" name="Text 20"/>
          <p:cNvSpPr/>
          <p:nvPr/>
        </p:nvSpPr>
        <p:spPr>
          <a:xfrm>
            <a:off x="7635240" y="2103120"/>
            <a:ext cx="1280160" cy="384048"/>
          </a:xfrm>
          <a:prstGeom prst="rect">
            <a:avLst/>
          </a:prstGeom>
          <a:noFill/>
          <a:ln/>
        </p:spPr>
        <p:txBody>
          <a:bodyPr wrap="square" rtlCol="0" anchor="ctr"/>
          <a:lstStyle/>
          <a:p>
            <a:pPr marL="0" indent="0">
              <a:buNone/>
            </a:pPr>
            <a:r>
              <a:rPr lang="en-US" sz="1150" dirty="0">
                <a:solidFill>
                  <a:srgbClr val="475569"/>
                </a:solidFill>
                <a:latin typeface="Calibri" pitchFamily="34" charset="0"/>
                <a:ea typeface="Calibri" pitchFamily="34" charset="-122"/>
                <a:cs typeface="Calibri" pitchFamily="34" charset="-120"/>
              </a:rPr>
              <a:t>Non → XAI</a:t>
            </a:r>
            <a:endParaRPr lang="en-US" sz="1150" dirty="0"/>
          </a:p>
        </p:txBody>
      </p:sp>
      <p:sp>
        <p:nvSpPr>
          <p:cNvPr id="23" name="Text 21"/>
          <p:cNvSpPr/>
          <p:nvPr/>
        </p:nvSpPr>
        <p:spPr>
          <a:xfrm>
            <a:off x="502920" y="2578608"/>
            <a:ext cx="2560320" cy="384048"/>
          </a:xfrm>
          <a:prstGeom prst="rect">
            <a:avLst/>
          </a:prstGeom>
          <a:noFill/>
          <a:ln/>
        </p:spPr>
        <p:txBody>
          <a:bodyPr wrap="square" rtlCol="0" anchor="ctr"/>
          <a:lstStyle/>
          <a:p>
            <a:pPr marL="0" indent="0">
              <a:buNone/>
            </a:pPr>
            <a:r>
              <a:rPr lang="en-US" sz="1150" dirty="0">
                <a:solidFill>
                  <a:srgbClr val="374151"/>
                </a:solidFill>
                <a:latin typeface="Calibri" pitchFamily="34" charset="0"/>
                <a:ea typeface="Calibri" pitchFamily="34" charset="-122"/>
                <a:cs typeface="Calibri" pitchFamily="34" charset="-120"/>
              </a:rPr>
              <a:t>Decision Tree</a:t>
            </a:r>
            <a:endParaRPr lang="en-US" sz="1150" dirty="0"/>
          </a:p>
        </p:txBody>
      </p:sp>
      <p:sp>
        <p:nvSpPr>
          <p:cNvPr id="24" name="Text 22"/>
          <p:cNvSpPr/>
          <p:nvPr/>
        </p:nvSpPr>
        <p:spPr>
          <a:xfrm>
            <a:off x="3063240" y="2578608"/>
            <a:ext cx="2286000" cy="384048"/>
          </a:xfrm>
          <a:prstGeom prst="rect">
            <a:avLst/>
          </a:prstGeom>
          <a:noFill/>
          <a:ln/>
        </p:spPr>
        <p:txBody>
          <a:bodyPr wrap="square" rtlCol="0" anchor="ctr"/>
          <a:lstStyle/>
          <a:p>
            <a:pPr marL="0" indent="0">
              <a:buNone/>
            </a:pPr>
            <a:r>
              <a:rPr lang="en-US" sz="1150" dirty="0">
                <a:solidFill>
                  <a:srgbClr val="374151"/>
                </a:solidFill>
                <a:latin typeface="Calibri" pitchFamily="34" charset="0"/>
                <a:ea typeface="Calibri" pitchFamily="34" charset="-122"/>
                <a:cs typeface="Calibri" pitchFamily="34" charset="-120"/>
              </a:rPr>
              <a:t>0.723</a:t>
            </a:r>
            <a:endParaRPr lang="en-US" sz="1150" dirty="0"/>
          </a:p>
        </p:txBody>
      </p:sp>
      <p:sp>
        <p:nvSpPr>
          <p:cNvPr id="25" name="Text 23"/>
          <p:cNvSpPr/>
          <p:nvPr/>
        </p:nvSpPr>
        <p:spPr>
          <a:xfrm>
            <a:off x="5349240" y="2578608"/>
            <a:ext cx="2286000" cy="384048"/>
          </a:xfrm>
          <a:prstGeom prst="rect">
            <a:avLst/>
          </a:prstGeom>
          <a:noFill/>
          <a:ln/>
        </p:spPr>
        <p:txBody>
          <a:bodyPr wrap="square" rtlCol="0" anchor="ctr"/>
          <a:lstStyle/>
          <a:p>
            <a:pPr marL="0" indent="0">
              <a:buNone/>
            </a:pPr>
            <a:r>
              <a:rPr lang="en-US" sz="1150" dirty="0">
                <a:solidFill>
                  <a:srgbClr val="374151"/>
                </a:solidFill>
                <a:latin typeface="Calibri" pitchFamily="34" charset="0"/>
                <a:ea typeface="Calibri" pitchFamily="34" charset="-122"/>
                <a:cs typeface="Calibri" pitchFamily="34" charset="-120"/>
              </a:rPr>
              <a:t>0.827</a:t>
            </a:r>
            <a:endParaRPr lang="en-US" sz="1150" dirty="0"/>
          </a:p>
        </p:txBody>
      </p:sp>
      <p:sp>
        <p:nvSpPr>
          <p:cNvPr id="26" name="Text 24"/>
          <p:cNvSpPr/>
          <p:nvPr/>
        </p:nvSpPr>
        <p:spPr>
          <a:xfrm>
            <a:off x="7635240" y="2578608"/>
            <a:ext cx="1280160" cy="384048"/>
          </a:xfrm>
          <a:prstGeom prst="rect">
            <a:avLst/>
          </a:prstGeom>
          <a:noFill/>
          <a:ln/>
        </p:spPr>
        <p:txBody>
          <a:bodyPr wrap="square" rtlCol="0" anchor="ctr"/>
          <a:lstStyle/>
          <a:p>
            <a:pPr marL="0" indent="0">
              <a:buNone/>
            </a:pPr>
            <a:r>
              <a:rPr lang="en-US" sz="1150" dirty="0">
                <a:solidFill>
                  <a:srgbClr val="16A34A"/>
                </a:solidFill>
                <a:latin typeface="Calibri" pitchFamily="34" charset="0"/>
                <a:ea typeface="Calibri" pitchFamily="34" charset="-122"/>
                <a:cs typeface="Calibri" pitchFamily="34" charset="-120"/>
              </a:rPr>
              <a:t>Oui (règles)</a:t>
            </a:r>
            <a:endParaRPr lang="en-US" sz="1150" dirty="0"/>
          </a:p>
        </p:txBody>
      </p:sp>
      <p:sp>
        <p:nvSpPr>
          <p:cNvPr id="27" name="Text 25"/>
          <p:cNvSpPr/>
          <p:nvPr/>
        </p:nvSpPr>
        <p:spPr>
          <a:xfrm>
            <a:off x="365760" y="3337560"/>
            <a:ext cx="4114800" cy="32004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Pourquoi pas l'accuracy ?</a:t>
            </a:r>
            <a:endParaRPr lang="en-US" sz="1200" dirty="0"/>
          </a:p>
        </p:txBody>
      </p:sp>
      <p:sp>
        <p:nvSpPr>
          <p:cNvPr id="28" name="Text 26"/>
          <p:cNvSpPr/>
          <p:nvPr/>
        </p:nvSpPr>
        <p:spPr>
          <a:xfrm>
            <a:off x="365760" y="3639312"/>
            <a:ext cx="4160520" cy="54864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Un modèle disant toujours "bon client" atteindrait 70% d'accuracy sans rien apprendre. L'AUC-ROC et l'AUPRC mesurent la vraie capacité de discrimination.</a:t>
            </a:r>
            <a:endParaRPr lang="en-US" sz="1050" dirty="0"/>
          </a:p>
        </p:txBody>
      </p:sp>
      <p:sp>
        <p:nvSpPr>
          <p:cNvPr id="29" name="Text 27"/>
          <p:cNvSpPr/>
          <p:nvPr/>
        </p:nvSpPr>
        <p:spPr>
          <a:xfrm>
            <a:off x="4754880" y="3337560"/>
            <a:ext cx="3977640" cy="868680"/>
          </a:xfrm>
          <a:prstGeom prst="rect">
            <a:avLst/>
          </a:prstGeom>
          <a:noFill/>
          <a:ln/>
        </p:spPr>
        <p:txBody>
          <a:bodyPr wrap="square" rtlCol="0" anchor="ctr"/>
          <a:lstStyle/>
          <a:p>
            <a:pPr marL="0" indent="0">
              <a:buNone/>
            </a:pPr>
            <a:r>
              <a:rPr lang="en-US" sz="1200" b="1" dirty="0">
                <a:solidFill>
                  <a:srgbClr val="1D4ED8"/>
                </a:solidFill>
                <a:latin typeface="Calibri" pitchFamily="34" charset="0"/>
                <a:ea typeface="Calibri" pitchFamily="34" charset="-122"/>
                <a:cs typeface="Calibri" pitchFamily="34" charset="-120"/>
              </a:rPr>
              <a:t>AUC-ROC = 0.765  →  bonne discrimination</a:t>
            </a:r>
            <a:endParaRPr lang="en-US" sz="1200" dirty="0"/>
          </a:p>
          <a:p>
            <a:pPr marL="0" indent="0">
              <a:buNone/>
            </a:pPr>
            <a:r>
              <a:rPr lang="en-US" sz="1200" b="1" dirty="0">
                <a:solidFill>
                  <a:srgbClr val="1D4ED8"/>
                </a:solidFill>
                <a:latin typeface="Calibri" pitchFamily="34" charset="0"/>
                <a:ea typeface="Calibri" pitchFamily="34" charset="-122"/>
                <a:cs typeface="Calibri" pitchFamily="34" charset="-120"/>
              </a:rPr>
              <a:t>AUPRC = 0.874  →  très bonne précision sur les mauvais clients</a:t>
            </a:r>
            <a:endParaRPr lang="en-US" sz="1200" dirty="0"/>
          </a:p>
        </p:txBody>
      </p:sp>
      <p:sp>
        <p:nvSpPr>
          <p:cNvPr id="30" name="Shape 28"/>
          <p:cNvSpPr/>
          <p:nvPr/>
        </p:nvSpPr>
        <p:spPr>
          <a:xfrm>
            <a:off x="0" y="4892040"/>
            <a:ext cx="9144000" cy="251460"/>
          </a:xfrm>
          <a:prstGeom prst="rect">
            <a:avLst/>
          </a:prstGeom>
          <a:solidFill>
            <a:srgbClr val="0A1A30"/>
          </a:solidFill>
          <a:ln w="12700">
            <a:solidFill>
              <a:srgbClr val="0A1A30"/>
            </a:solidFill>
            <a:prstDash val="solid"/>
          </a:ln>
        </p:spPr>
        <p:txBody>
          <a:bodyPr/>
          <a:lstStyle/>
          <a:p>
            <a:endParaRPr lang="fr-FR"/>
          </a:p>
        </p:txBody>
      </p:sp>
      <p:sp>
        <p:nvSpPr>
          <p:cNvPr id="31" name="Text 29"/>
          <p:cNvSpPr/>
          <p:nvPr/>
        </p:nvSpPr>
        <p:spPr>
          <a:xfrm>
            <a:off x="320040" y="4901184"/>
            <a:ext cx="6400800" cy="22860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Robin Lamy  ·  ECE Paris ING4 Finance IA  ·  2026</a:t>
            </a:r>
            <a:endParaRPr lang="en-US" sz="800" dirty="0"/>
          </a:p>
        </p:txBody>
      </p:sp>
      <p:sp>
        <p:nvSpPr>
          <p:cNvPr id="32" name="Text 30"/>
          <p:cNvSpPr/>
          <p:nvPr/>
        </p:nvSpPr>
        <p:spPr>
          <a:xfrm>
            <a:off x="8229600" y="4901184"/>
            <a:ext cx="640080" cy="22860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5 / 12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201168"/>
            <a:ext cx="54864" cy="292608"/>
          </a:xfrm>
          <a:prstGeom prst="rect">
            <a:avLst/>
          </a:prstGeom>
          <a:solidFill>
            <a:srgbClr val="1D4ED8"/>
          </a:solidFill>
          <a:ln w="12700">
            <a:solidFill>
              <a:srgbClr val="1D4ED8"/>
            </a:solidFill>
            <a:prstDash val="solid"/>
          </a:ln>
        </p:spPr>
        <p:txBody>
          <a:bodyPr/>
          <a:lstStyle/>
          <a:p>
            <a:endParaRPr lang="fr-FR"/>
          </a:p>
        </p:txBody>
      </p:sp>
      <p:sp>
        <p:nvSpPr>
          <p:cNvPr id="3" name="Text 1"/>
          <p:cNvSpPr/>
          <p:nvPr/>
        </p:nvSpPr>
        <p:spPr>
          <a:xfrm>
            <a:off x="502920" y="201168"/>
            <a:ext cx="3657600" cy="292608"/>
          </a:xfrm>
          <a:prstGeom prst="rect">
            <a:avLst/>
          </a:prstGeom>
          <a:noFill/>
          <a:ln/>
        </p:spPr>
        <p:txBody>
          <a:bodyPr wrap="square" lIns="0" tIns="0" rIns="0" bIns="0" rtlCol="0" anchor="ctr"/>
          <a:lstStyle/>
          <a:p>
            <a:pPr marL="0" indent="0">
              <a:buNone/>
            </a:pPr>
            <a:r>
              <a:rPr lang="en-US" sz="900" b="1" kern="0" spc="200" dirty="0">
                <a:solidFill>
                  <a:srgbClr val="1D4ED8"/>
                </a:solidFill>
                <a:latin typeface="Calibri" pitchFamily="34" charset="0"/>
                <a:ea typeface="Calibri" pitchFamily="34" charset="-122"/>
                <a:cs typeface="Calibri" pitchFamily="34" charset="-120"/>
              </a:rPr>
              <a:t>04 — EXPLICABILITÉ XAI</a:t>
            </a:r>
            <a:endParaRPr lang="en-US" sz="900" dirty="0"/>
          </a:p>
        </p:txBody>
      </p:sp>
      <p:sp>
        <p:nvSpPr>
          <p:cNvPr id="4" name="Text 2"/>
          <p:cNvSpPr/>
          <p:nvPr/>
        </p:nvSpPr>
        <p:spPr>
          <a:xfrm>
            <a:off x="365760" y="548640"/>
            <a:ext cx="8412480" cy="502920"/>
          </a:xfrm>
          <a:prstGeom prst="rect">
            <a:avLst/>
          </a:prstGeom>
          <a:noFill/>
          <a:ln/>
        </p:spPr>
        <p:txBody>
          <a:bodyPr wrap="square" rtlCol="0" anchor="ctr"/>
          <a:lstStyle/>
          <a:p>
            <a:pPr marL="0" indent="0">
              <a:buNone/>
            </a:pPr>
            <a:r>
              <a:rPr lang="en-US" sz="2600" b="1" dirty="0">
                <a:solidFill>
                  <a:srgbClr val="1E293B"/>
                </a:solidFill>
                <a:latin typeface="Calibri Light" pitchFamily="34" charset="0"/>
                <a:ea typeface="Calibri Light" pitchFamily="34" charset="-122"/>
                <a:cs typeface="Calibri Light" pitchFamily="34" charset="-120"/>
              </a:rPr>
              <a:t>SHAP — Importance globale des variables</a:t>
            </a:r>
            <a:endParaRPr lang="en-US" sz="2600" dirty="0"/>
          </a:p>
        </p:txBody>
      </p:sp>
      <p:sp>
        <p:nvSpPr>
          <p:cNvPr id="5" name="Shape 3"/>
          <p:cNvSpPr/>
          <p:nvPr/>
        </p:nvSpPr>
        <p:spPr>
          <a:xfrm>
            <a:off x="365760" y="1188720"/>
            <a:ext cx="3931920" cy="137160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6" name="Shape 4"/>
          <p:cNvSpPr/>
          <p:nvPr/>
        </p:nvSpPr>
        <p:spPr>
          <a:xfrm>
            <a:off x="365760" y="1188720"/>
            <a:ext cx="3931920" cy="64008"/>
          </a:xfrm>
          <a:prstGeom prst="rect">
            <a:avLst/>
          </a:prstGeom>
          <a:solidFill>
            <a:srgbClr val="1D4ED8"/>
          </a:solidFill>
          <a:ln w="12700">
            <a:solidFill>
              <a:srgbClr val="1D4ED8"/>
            </a:solidFill>
            <a:prstDash val="solid"/>
          </a:ln>
        </p:spPr>
        <p:txBody>
          <a:bodyPr/>
          <a:lstStyle/>
          <a:p>
            <a:endParaRPr lang="fr-FR"/>
          </a:p>
        </p:txBody>
      </p:sp>
      <p:sp>
        <p:nvSpPr>
          <p:cNvPr id="7" name="Text 5"/>
          <p:cNvSpPr/>
          <p:nvPr/>
        </p:nvSpPr>
        <p:spPr>
          <a:xfrm>
            <a:off x="502920" y="1298448"/>
            <a:ext cx="3657600" cy="32004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Qu'est-ce que SHAP ?</a:t>
            </a:r>
            <a:endParaRPr lang="en-US" sz="1200" dirty="0"/>
          </a:p>
        </p:txBody>
      </p:sp>
      <p:sp>
        <p:nvSpPr>
          <p:cNvPr id="8" name="Text 6"/>
          <p:cNvSpPr/>
          <p:nvPr/>
        </p:nvSpPr>
        <p:spPr>
          <a:xfrm>
            <a:off x="502920" y="1627632"/>
            <a:ext cx="3657600" cy="82296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Basé sur la théorie des jeux coopératifs (Shapley, 1953 — Prix Nobel 2012). Mesure la contribution marginale de chaque variable en testant toutes les combinaisons possibles. Mathématiquement exact.</a:t>
            </a:r>
            <a:endParaRPr lang="en-US" sz="1050" dirty="0"/>
          </a:p>
        </p:txBody>
      </p:sp>
      <p:sp>
        <p:nvSpPr>
          <p:cNvPr id="9" name="Shape 7"/>
          <p:cNvSpPr/>
          <p:nvPr/>
        </p:nvSpPr>
        <p:spPr>
          <a:xfrm>
            <a:off x="365760" y="2743200"/>
            <a:ext cx="3931920" cy="19202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0" name="Text 8"/>
          <p:cNvSpPr/>
          <p:nvPr/>
        </p:nvSpPr>
        <p:spPr>
          <a:xfrm>
            <a:off x="502920" y="2834640"/>
            <a:ext cx="3657600" cy="320040"/>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Top variables (importance globale)</a:t>
            </a:r>
            <a:endParaRPr lang="en-US" sz="1100" dirty="0"/>
          </a:p>
        </p:txBody>
      </p:sp>
      <p:sp>
        <p:nvSpPr>
          <p:cNvPr id="11" name="Text 9"/>
          <p:cNvSpPr/>
          <p:nvPr/>
        </p:nvSpPr>
        <p:spPr>
          <a:xfrm>
            <a:off x="502920" y="3218688"/>
            <a:ext cx="2011680" cy="25603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Statut du compte courant</a:t>
            </a:r>
            <a:endParaRPr lang="en-US" sz="950" dirty="0"/>
          </a:p>
        </p:txBody>
      </p:sp>
      <p:sp>
        <p:nvSpPr>
          <p:cNvPr id="12" name="Shape 10"/>
          <p:cNvSpPr/>
          <p:nvPr/>
        </p:nvSpPr>
        <p:spPr>
          <a:xfrm>
            <a:off x="2514600" y="3264408"/>
            <a:ext cx="2633472" cy="164592"/>
          </a:xfrm>
          <a:prstGeom prst="rect">
            <a:avLst/>
          </a:prstGeom>
          <a:solidFill>
            <a:srgbClr val="DC2626">
              <a:alpha val="85000"/>
            </a:srgbClr>
          </a:solidFill>
          <a:ln w="12700">
            <a:solidFill>
              <a:srgbClr val="DC2626">
                <a:alpha val="85000"/>
              </a:srgbClr>
            </a:solidFill>
            <a:prstDash val="solid"/>
          </a:ln>
        </p:spPr>
        <p:txBody>
          <a:bodyPr/>
          <a:lstStyle/>
          <a:p>
            <a:endParaRPr lang="fr-FR"/>
          </a:p>
        </p:txBody>
      </p:sp>
      <p:sp>
        <p:nvSpPr>
          <p:cNvPr id="13" name="Text 11"/>
          <p:cNvSpPr/>
          <p:nvPr/>
        </p:nvSpPr>
        <p:spPr>
          <a:xfrm>
            <a:off x="502920" y="3511296"/>
            <a:ext cx="2011680" cy="25603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Durée du crédit</a:t>
            </a:r>
            <a:endParaRPr lang="en-US" sz="950" dirty="0"/>
          </a:p>
        </p:txBody>
      </p:sp>
      <p:sp>
        <p:nvSpPr>
          <p:cNvPr id="14" name="Shape 12"/>
          <p:cNvSpPr/>
          <p:nvPr/>
        </p:nvSpPr>
        <p:spPr>
          <a:xfrm>
            <a:off x="2514600" y="3557016"/>
            <a:ext cx="2282342" cy="164592"/>
          </a:xfrm>
          <a:prstGeom prst="rect">
            <a:avLst/>
          </a:prstGeom>
          <a:solidFill>
            <a:srgbClr val="DC2626">
              <a:alpha val="85000"/>
            </a:srgbClr>
          </a:solidFill>
          <a:ln w="12700">
            <a:solidFill>
              <a:srgbClr val="DC2626">
                <a:alpha val="85000"/>
              </a:srgbClr>
            </a:solidFill>
            <a:prstDash val="solid"/>
          </a:ln>
        </p:spPr>
        <p:txBody>
          <a:bodyPr/>
          <a:lstStyle/>
          <a:p>
            <a:endParaRPr lang="fr-FR"/>
          </a:p>
        </p:txBody>
      </p:sp>
      <p:sp>
        <p:nvSpPr>
          <p:cNvPr id="15" name="Text 13"/>
          <p:cNvSpPr/>
          <p:nvPr/>
        </p:nvSpPr>
        <p:spPr>
          <a:xfrm>
            <a:off x="502920" y="3803904"/>
            <a:ext cx="2011680" cy="25603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Montant du crédit</a:t>
            </a:r>
            <a:endParaRPr lang="en-US" sz="950" dirty="0"/>
          </a:p>
        </p:txBody>
      </p:sp>
      <p:sp>
        <p:nvSpPr>
          <p:cNvPr id="16" name="Shape 14"/>
          <p:cNvSpPr/>
          <p:nvPr/>
        </p:nvSpPr>
        <p:spPr>
          <a:xfrm>
            <a:off x="2514600" y="3849624"/>
            <a:ext cx="2077517" cy="164592"/>
          </a:xfrm>
          <a:prstGeom prst="rect">
            <a:avLst/>
          </a:prstGeom>
          <a:solidFill>
            <a:srgbClr val="1D4ED8">
              <a:alpha val="85000"/>
            </a:srgbClr>
          </a:solidFill>
          <a:ln w="12700">
            <a:solidFill>
              <a:srgbClr val="1D4ED8">
                <a:alpha val="85000"/>
              </a:srgbClr>
            </a:solidFill>
            <a:prstDash val="solid"/>
          </a:ln>
        </p:spPr>
        <p:txBody>
          <a:bodyPr/>
          <a:lstStyle/>
          <a:p>
            <a:endParaRPr lang="fr-FR"/>
          </a:p>
        </p:txBody>
      </p:sp>
      <p:sp>
        <p:nvSpPr>
          <p:cNvPr id="17" name="Text 15"/>
          <p:cNvSpPr/>
          <p:nvPr/>
        </p:nvSpPr>
        <p:spPr>
          <a:xfrm>
            <a:off x="502920" y="4096512"/>
            <a:ext cx="2011680" cy="25603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Historique de crédit</a:t>
            </a:r>
            <a:endParaRPr lang="en-US" sz="950" dirty="0"/>
          </a:p>
        </p:txBody>
      </p:sp>
      <p:sp>
        <p:nvSpPr>
          <p:cNvPr id="18" name="Shape 16"/>
          <p:cNvSpPr/>
          <p:nvPr/>
        </p:nvSpPr>
        <p:spPr>
          <a:xfrm>
            <a:off x="2514600" y="4142232"/>
            <a:ext cx="1609344" cy="164592"/>
          </a:xfrm>
          <a:prstGeom prst="rect">
            <a:avLst/>
          </a:prstGeom>
          <a:solidFill>
            <a:srgbClr val="1D4ED8">
              <a:alpha val="85000"/>
            </a:srgbClr>
          </a:solidFill>
          <a:ln w="12700">
            <a:solidFill>
              <a:srgbClr val="1D4ED8">
                <a:alpha val="85000"/>
              </a:srgbClr>
            </a:solidFill>
            <a:prstDash val="solid"/>
          </a:ln>
        </p:spPr>
        <p:txBody>
          <a:bodyPr/>
          <a:lstStyle/>
          <a:p>
            <a:endParaRPr lang="fr-FR"/>
          </a:p>
        </p:txBody>
      </p:sp>
      <p:sp>
        <p:nvSpPr>
          <p:cNvPr id="19" name="Text 17"/>
          <p:cNvSpPr/>
          <p:nvPr/>
        </p:nvSpPr>
        <p:spPr>
          <a:xfrm>
            <a:off x="502920" y="4389120"/>
            <a:ext cx="2011680" cy="25603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Âge</a:t>
            </a:r>
            <a:endParaRPr lang="en-US" sz="950" dirty="0"/>
          </a:p>
        </p:txBody>
      </p:sp>
      <p:sp>
        <p:nvSpPr>
          <p:cNvPr id="20" name="Shape 18"/>
          <p:cNvSpPr/>
          <p:nvPr/>
        </p:nvSpPr>
        <p:spPr>
          <a:xfrm>
            <a:off x="2514600" y="4434840"/>
            <a:ext cx="1228954" cy="164592"/>
          </a:xfrm>
          <a:prstGeom prst="rect">
            <a:avLst/>
          </a:prstGeom>
          <a:solidFill>
            <a:srgbClr val="1D4ED8">
              <a:alpha val="85000"/>
            </a:srgbClr>
          </a:solidFill>
          <a:ln w="12700">
            <a:solidFill>
              <a:srgbClr val="1D4ED8">
                <a:alpha val="85000"/>
              </a:srgbClr>
            </a:solidFill>
            <a:prstDash val="solid"/>
          </a:ln>
        </p:spPr>
        <p:txBody>
          <a:bodyPr/>
          <a:lstStyle/>
          <a:p>
            <a:endParaRPr lang="fr-FR"/>
          </a:p>
        </p:txBody>
      </p:sp>
      <p:sp>
        <p:nvSpPr>
          <p:cNvPr id="21" name="Shape 19"/>
          <p:cNvSpPr/>
          <p:nvPr/>
        </p:nvSpPr>
        <p:spPr>
          <a:xfrm>
            <a:off x="4526280" y="1188720"/>
            <a:ext cx="4251960" cy="3474720"/>
          </a:xfrm>
          <a:prstGeom prst="rect">
            <a:avLst/>
          </a:prstGeom>
          <a:solidFill>
            <a:srgbClr val="0F2444"/>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22" name="Text 20"/>
          <p:cNvSpPr/>
          <p:nvPr/>
        </p:nvSpPr>
        <p:spPr>
          <a:xfrm>
            <a:off x="4663440" y="1298448"/>
            <a:ext cx="3931920" cy="320040"/>
          </a:xfrm>
          <a:prstGeom prst="rect">
            <a:avLst/>
          </a:prstGeom>
          <a:noFill/>
          <a:ln/>
        </p:spPr>
        <p:txBody>
          <a:bodyPr wrap="square" rtlCol="0" anchor="ctr"/>
          <a:lstStyle/>
          <a:p>
            <a:pPr marL="0" indent="0">
              <a:buNone/>
            </a:pPr>
            <a:r>
              <a:rPr lang="en-US" sz="1100" b="1" dirty="0">
                <a:solidFill>
                  <a:srgbClr val="BFDBFE"/>
                </a:solidFill>
                <a:latin typeface="Calibri" pitchFamily="34" charset="0"/>
                <a:ea typeface="Calibri" pitchFamily="34" charset="-122"/>
                <a:cs typeface="Calibri" pitchFamily="34" charset="-120"/>
              </a:rPr>
              <a:t>Explication locale — Client refusé</a:t>
            </a:r>
            <a:endParaRPr lang="en-US" sz="1100" dirty="0"/>
          </a:p>
        </p:txBody>
      </p:sp>
      <p:sp>
        <p:nvSpPr>
          <p:cNvPr id="23" name="Text 21"/>
          <p:cNvSpPr/>
          <p:nvPr/>
        </p:nvSpPr>
        <p:spPr>
          <a:xfrm>
            <a:off x="4663440" y="1691640"/>
            <a:ext cx="3931920" cy="274320"/>
          </a:xfrm>
          <a:prstGeom prst="rect">
            <a:avLst/>
          </a:prstGeom>
          <a:noFill/>
          <a:ln/>
        </p:spPr>
        <p:txBody>
          <a:bodyPr wrap="square"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Variables qui ont conduit au refus :</a:t>
            </a:r>
            <a:endParaRPr lang="en-US" sz="1000" dirty="0"/>
          </a:p>
        </p:txBody>
      </p:sp>
      <p:sp>
        <p:nvSpPr>
          <p:cNvPr id="24" name="Shape 22"/>
          <p:cNvSpPr/>
          <p:nvPr/>
        </p:nvSpPr>
        <p:spPr>
          <a:xfrm>
            <a:off x="4663440" y="2029968"/>
            <a:ext cx="3291840" cy="347472"/>
          </a:xfrm>
          <a:prstGeom prst="rect">
            <a:avLst/>
          </a:prstGeom>
          <a:solidFill>
            <a:srgbClr val="1A2E4A"/>
          </a:solidFill>
          <a:ln w="12700">
            <a:solidFill>
              <a:srgbClr val="243550"/>
            </a:solidFill>
            <a:prstDash val="solid"/>
          </a:ln>
        </p:spPr>
        <p:txBody>
          <a:bodyPr/>
          <a:lstStyle/>
          <a:p>
            <a:endParaRPr lang="fr-FR"/>
          </a:p>
        </p:txBody>
      </p:sp>
      <p:sp>
        <p:nvSpPr>
          <p:cNvPr id="25" name="Text 23"/>
          <p:cNvSpPr/>
          <p:nvPr/>
        </p:nvSpPr>
        <p:spPr>
          <a:xfrm>
            <a:off x="4754880" y="2048256"/>
            <a:ext cx="2560320" cy="310896"/>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Durée du crédit</a:t>
            </a:r>
            <a:endParaRPr lang="en-US" sz="1000" dirty="0"/>
          </a:p>
        </p:txBody>
      </p:sp>
      <p:sp>
        <p:nvSpPr>
          <p:cNvPr id="26" name="Text 24"/>
          <p:cNvSpPr/>
          <p:nvPr/>
        </p:nvSpPr>
        <p:spPr>
          <a:xfrm>
            <a:off x="7406640" y="2048256"/>
            <a:ext cx="1097280" cy="310896"/>
          </a:xfrm>
          <a:prstGeom prst="rect">
            <a:avLst/>
          </a:prstGeom>
          <a:noFill/>
          <a:ln/>
        </p:spPr>
        <p:txBody>
          <a:bodyPr wrap="square" rtlCol="0" anchor="ctr"/>
          <a:lstStyle/>
          <a:p>
            <a:pPr marL="0" indent="0" algn="r">
              <a:buNone/>
            </a:pPr>
            <a:r>
              <a:rPr lang="en-US" sz="1100" b="1" dirty="0">
                <a:solidFill>
                  <a:srgbClr val="DC2626"/>
                </a:solidFill>
                <a:latin typeface="Calibri" pitchFamily="34" charset="0"/>
                <a:ea typeface="Calibri" pitchFamily="34" charset="-122"/>
                <a:cs typeface="Calibri" pitchFamily="34" charset="-120"/>
              </a:rPr>
              <a:t>-1.572</a:t>
            </a:r>
            <a:endParaRPr lang="en-US" sz="1100" dirty="0"/>
          </a:p>
        </p:txBody>
      </p:sp>
      <p:sp>
        <p:nvSpPr>
          <p:cNvPr id="27" name="Shape 25"/>
          <p:cNvSpPr/>
          <p:nvPr/>
        </p:nvSpPr>
        <p:spPr>
          <a:xfrm>
            <a:off x="4663440" y="2505456"/>
            <a:ext cx="3291840" cy="347472"/>
          </a:xfrm>
          <a:prstGeom prst="rect">
            <a:avLst/>
          </a:prstGeom>
          <a:solidFill>
            <a:srgbClr val="1A2E4A"/>
          </a:solidFill>
          <a:ln w="12700">
            <a:solidFill>
              <a:srgbClr val="243550"/>
            </a:solidFill>
            <a:prstDash val="solid"/>
          </a:ln>
        </p:spPr>
        <p:txBody>
          <a:bodyPr/>
          <a:lstStyle/>
          <a:p>
            <a:endParaRPr lang="fr-FR"/>
          </a:p>
        </p:txBody>
      </p:sp>
      <p:sp>
        <p:nvSpPr>
          <p:cNvPr id="28" name="Text 26"/>
          <p:cNvSpPr/>
          <p:nvPr/>
        </p:nvSpPr>
        <p:spPr>
          <a:xfrm>
            <a:off x="4754880" y="2523744"/>
            <a:ext cx="2560320" cy="310896"/>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Statut compte courant</a:t>
            </a:r>
            <a:endParaRPr lang="en-US" sz="1000" dirty="0"/>
          </a:p>
        </p:txBody>
      </p:sp>
      <p:sp>
        <p:nvSpPr>
          <p:cNvPr id="29" name="Text 27"/>
          <p:cNvSpPr/>
          <p:nvPr/>
        </p:nvSpPr>
        <p:spPr>
          <a:xfrm>
            <a:off x="7406640" y="2523744"/>
            <a:ext cx="1097280" cy="310896"/>
          </a:xfrm>
          <a:prstGeom prst="rect">
            <a:avLst/>
          </a:prstGeom>
          <a:noFill/>
          <a:ln/>
        </p:spPr>
        <p:txBody>
          <a:bodyPr wrap="square" rtlCol="0" anchor="ctr"/>
          <a:lstStyle/>
          <a:p>
            <a:pPr marL="0" indent="0" algn="r">
              <a:buNone/>
            </a:pPr>
            <a:r>
              <a:rPr lang="en-US" sz="1100" b="1" dirty="0">
                <a:solidFill>
                  <a:srgbClr val="DC2626"/>
                </a:solidFill>
                <a:latin typeface="Calibri" pitchFamily="34" charset="0"/>
                <a:ea typeface="Calibri" pitchFamily="34" charset="-122"/>
                <a:cs typeface="Calibri" pitchFamily="34" charset="-120"/>
              </a:rPr>
              <a:t>-0.706</a:t>
            </a:r>
            <a:endParaRPr lang="en-US" sz="1100" dirty="0"/>
          </a:p>
        </p:txBody>
      </p:sp>
      <p:sp>
        <p:nvSpPr>
          <p:cNvPr id="30" name="Shape 28"/>
          <p:cNvSpPr/>
          <p:nvPr/>
        </p:nvSpPr>
        <p:spPr>
          <a:xfrm>
            <a:off x="4663440" y="2980944"/>
            <a:ext cx="3291840" cy="347472"/>
          </a:xfrm>
          <a:prstGeom prst="rect">
            <a:avLst/>
          </a:prstGeom>
          <a:solidFill>
            <a:srgbClr val="1A2E4A"/>
          </a:solidFill>
          <a:ln w="12700">
            <a:solidFill>
              <a:srgbClr val="243550"/>
            </a:solidFill>
            <a:prstDash val="solid"/>
          </a:ln>
        </p:spPr>
        <p:txBody>
          <a:bodyPr/>
          <a:lstStyle/>
          <a:p>
            <a:endParaRPr lang="fr-FR"/>
          </a:p>
        </p:txBody>
      </p:sp>
      <p:sp>
        <p:nvSpPr>
          <p:cNvPr id="31" name="Text 29"/>
          <p:cNvSpPr/>
          <p:nvPr/>
        </p:nvSpPr>
        <p:spPr>
          <a:xfrm>
            <a:off x="4754880" y="2999232"/>
            <a:ext cx="2560320" cy="310896"/>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Compte en découvert</a:t>
            </a:r>
            <a:endParaRPr lang="en-US" sz="1000" dirty="0"/>
          </a:p>
        </p:txBody>
      </p:sp>
      <p:sp>
        <p:nvSpPr>
          <p:cNvPr id="32" name="Text 30"/>
          <p:cNvSpPr/>
          <p:nvPr/>
        </p:nvSpPr>
        <p:spPr>
          <a:xfrm>
            <a:off x="7406640" y="2999232"/>
            <a:ext cx="1097280" cy="310896"/>
          </a:xfrm>
          <a:prstGeom prst="rect">
            <a:avLst/>
          </a:prstGeom>
          <a:noFill/>
          <a:ln/>
        </p:spPr>
        <p:txBody>
          <a:bodyPr wrap="square" rtlCol="0" anchor="ctr"/>
          <a:lstStyle/>
          <a:p>
            <a:pPr marL="0" indent="0" algn="r">
              <a:buNone/>
            </a:pPr>
            <a:r>
              <a:rPr lang="en-US" sz="1100" b="1" dirty="0">
                <a:solidFill>
                  <a:srgbClr val="DC2626"/>
                </a:solidFill>
                <a:latin typeface="Calibri" pitchFamily="34" charset="0"/>
                <a:ea typeface="Calibri" pitchFamily="34" charset="-122"/>
                <a:cs typeface="Calibri" pitchFamily="34" charset="-120"/>
              </a:rPr>
              <a:t>-0.550</a:t>
            </a:r>
            <a:endParaRPr lang="en-US" sz="1100" dirty="0"/>
          </a:p>
        </p:txBody>
      </p:sp>
      <p:sp>
        <p:nvSpPr>
          <p:cNvPr id="33" name="Shape 31"/>
          <p:cNvSpPr/>
          <p:nvPr/>
        </p:nvSpPr>
        <p:spPr>
          <a:xfrm>
            <a:off x="4663440" y="3456432"/>
            <a:ext cx="3291840" cy="347472"/>
          </a:xfrm>
          <a:prstGeom prst="rect">
            <a:avLst/>
          </a:prstGeom>
          <a:solidFill>
            <a:srgbClr val="1A2E4A"/>
          </a:solidFill>
          <a:ln w="12700">
            <a:solidFill>
              <a:srgbClr val="243550"/>
            </a:solidFill>
            <a:prstDash val="solid"/>
          </a:ln>
        </p:spPr>
        <p:txBody>
          <a:bodyPr/>
          <a:lstStyle/>
          <a:p>
            <a:endParaRPr lang="fr-FR"/>
          </a:p>
        </p:txBody>
      </p:sp>
      <p:sp>
        <p:nvSpPr>
          <p:cNvPr id="34" name="Text 32"/>
          <p:cNvSpPr/>
          <p:nvPr/>
        </p:nvSpPr>
        <p:spPr>
          <a:xfrm>
            <a:off x="4754880" y="3474720"/>
            <a:ext cx="2560320" cy="310896"/>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Bien principal inconnu</a:t>
            </a:r>
            <a:endParaRPr lang="en-US" sz="1000" dirty="0"/>
          </a:p>
        </p:txBody>
      </p:sp>
      <p:sp>
        <p:nvSpPr>
          <p:cNvPr id="35" name="Text 33"/>
          <p:cNvSpPr/>
          <p:nvPr/>
        </p:nvSpPr>
        <p:spPr>
          <a:xfrm>
            <a:off x="7406640" y="3474720"/>
            <a:ext cx="1097280" cy="310896"/>
          </a:xfrm>
          <a:prstGeom prst="rect">
            <a:avLst/>
          </a:prstGeom>
          <a:noFill/>
          <a:ln/>
        </p:spPr>
        <p:txBody>
          <a:bodyPr wrap="square" rtlCol="0" anchor="ctr"/>
          <a:lstStyle/>
          <a:p>
            <a:pPr marL="0" indent="0" algn="r">
              <a:buNone/>
            </a:pPr>
            <a:r>
              <a:rPr lang="en-US" sz="1100" b="1" dirty="0">
                <a:solidFill>
                  <a:srgbClr val="DC2626"/>
                </a:solidFill>
                <a:latin typeface="Calibri" pitchFamily="34" charset="0"/>
                <a:ea typeface="Calibri" pitchFamily="34" charset="-122"/>
                <a:cs typeface="Calibri" pitchFamily="34" charset="-120"/>
              </a:rPr>
              <a:t>-0.407</a:t>
            </a:r>
            <a:endParaRPr lang="en-US" sz="1100" dirty="0"/>
          </a:p>
        </p:txBody>
      </p:sp>
      <p:sp>
        <p:nvSpPr>
          <p:cNvPr id="36" name="Shape 34"/>
          <p:cNvSpPr/>
          <p:nvPr/>
        </p:nvSpPr>
        <p:spPr>
          <a:xfrm>
            <a:off x="4663440" y="3931920"/>
            <a:ext cx="3291840" cy="347472"/>
          </a:xfrm>
          <a:prstGeom prst="rect">
            <a:avLst/>
          </a:prstGeom>
          <a:solidFill>
            <a:srgbClr val="1A2E4A"/>
          </a:solidFill>
          <a:ln w="12700">
            <a:solidFill>
              <a:srgbClr val="243550"/>
            </a:solidFill>
            <a:prstDash val="solid"/>
          </a:ln>
        </p:spPr>
        <p:txBody>
          <a:bodyPr/>
          <a:lstStyle/>
          <a:p>
            <a:endParaRPr lang="fr-FR"/>
          </a:p>
        </p:txBody>
      </p:sp>
      <p:sp>
        <p:nvSpPr>
          <p:cNvPr id="37" name="Text 35"/>
          <p:cNvSpPr/>
          <p:nvPr/>
        </p:nvSpPr>
        <p:spPr>
          <a:xfrm>
            <a:off x="4754880" y="3950208"/>
            <a:ext cx="2560320" cy="310896"/>
          </a:xfrm>
          <a:prstGeom prst="rect">
            <a:avLst/>
          </a:prstGeom>
          <a:noFill/>
          <a:ln/>
        </p:spPr>
        <p:txBody>
          <a:bodyPr wrap="square" rtlCol="0" anchor="ctr"/>
          <a:lstStyle/>
          <a:p>
            <a:pPr marL="0" indent="0">
              <a:buNone/>
            </a:pPr>
            <a:r>
              <a:rPr lang="en-US" sz="1000" dirty="0">
                <a:solidFill>
                  <a:srgbClr val="94A3B8"/>
                </a:solidFill>
                <a:latin typeface="Calibri" pitchFamily="34" charset="0"/>
                <a:ea typeface="Calibri" pitchFamily="34" charset="-122"/>
                <a:cs typeface="Calibri" pitchFamily="34" charset="-120"/>
              </a:rPr>
              <a:t>Âge</a:t>
            </a:r>
            <a:endParaRPr lang="en-US" sz="1000" dirty="0"/>
          </a:p>
        </p:txBody>
      </p:sp>
      <p:sp>
        <p:nvSpPr>
          <p:cNvPr id="38" name="Text 36"/>
          <p:cNvSpPr/>
          <p:nvPr/>
        </p:nvSpPr>
        <p:spPr>
          <a:xfrm>
            <a:off x="7406640" y="3950208"/>
            <a:ext cx="1097280" cy="310896"/>
          </a:xfrm>
          <a:prstGeom prst="rect">
            <a:avLst/>
          </a:prstGeom>
          <a:noFill/>
          <a:ln/>
        </p:spPr>
        <p:txBody>
          <a:bodyPr wrap="square" rtlCol="0" anchor="ctr"/>
          <a:lstStyle/>
          <a:p>
            <a:pPr marL="0" indent="0" algn="r">
              <a:buNone/>
            </a:pPr>
            <a:r>
              <a:rPr lang="en-US" sz="1100" b="1" dirty="0">
                <a:solidFill>
                  <a:srgbClr val="DC2626"/>
                </a:solidFill>
                <a:latin typeface="Calibri" pitchFamily="34" charset="0"/>
                <a:ea typeface="Calibri" pitchFamily="34" charset="-122"/>
                <a:cs typeface="Calibri" pitchFamily="34" charset="-120"/>
              </a:rPr>
              <a:t>-0.401</a:t>
            </a:r>
            <a:endParaRPr lang="en-US" sz="1100" dirty="0"/>
          </a:p>
        </p:txBody>
      </p:sp>
      <p:sp>
        <p:nvSpPr>
          <p:cNvPr id="39" name="Text 37"/>
          <p:cNvSpPr/>
          <p:nvPr/>
        </p:nvSpPr>
        <p:spPr>
          <a:xfrm>
            <a:off x="4663440" y="4434840"/>
            <a:ext cx="3931920" cy="320040"/>
          </a:xfrm>
          <a:prstGeom prst="rect">
            <a:avLst/>
          </a:prstGeom>
          <a:noFill/>
          <a:ln/>
        </p:spPr>
        <p:txBody>
          <a:bodyPr wrap="square" rtlCol="0" anchor="ctr"/>
          <a:lstStyle/>
          <a:p>
            <a:pPr marL="0" indent="0">
              <a:buNone/>
            </a:pPr>
            <a:r>
              <a:rPr lang="en-US" sz="1200" b="1" i="1" dirty="0">
                <a:solidFill>
                  <a:srgbClr val="DC2626"/>
                </a:solidFill>
                <a:latin typeface="Calibri" pitchFamily="34" charset="0"/>
                <a:ea typeface="Calibri" pitchFamily="34" charset="-122"/>
                <a:cs typeface="Calibri" pitchFamily="34" charset="-120"/>
              </a:rPr>
              <a:t>Probabilité d'accord : 2.1%</a:t>
            </a:r>
            <a:endParaRPr lang="en-US" sz="1200" dirty="0"/>
          </a:p>
        </p:txBody>
      </p:sp>
      <p:sp>
        <p:nvSpPr>
          <p:cNvPr id="40" name="Shape 38"/>
          <p:cNvSpPr/>
          <p:nvPr/>
        </p:nvSpPr>
        <p:spPr>
          <a:xfrm>
            <a:off x="0" y="4892040"/>
            <a:ext cx="9144000" cy="251460"/>
          </a:xfrm>
          <a:prstGeom prst="rect">
            <a:avLst/>
          </a:prstGeom>
          <a:solidFill>
            <a:srgbClr val="0A1A30"/>
          </a:solidFill>
          <a:ln w="12700">
            <a:solidFill>
              <a:srgbClr val="0A1A30"/>
            </a:solidFill>
            <a:prstDash val="solid"/>
          </a:ln>
        </p:spPr>
        <p:txBody>
          <a:bodyPr/>
          <a:lstStyle/>
          <a:p>
            <a:endParaRPr lang="fr-FR"/>
          </a:p>
        </p:txBody>
      </p:sp>
      <p:sp>
        <p:nvSpPr>
          <p:cNvPr id="41" name="Text 39"/>
          <p:cNvSpPr/>
          <p:nvPr/>
        </p:nvSpPr>
        <p:spPr>
          <a:xfrm>
            <a:off x="320040" y="4901184"/>
            <a:ext cx="6400800" cy="22860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Robin Lamy  ·  ECE Paris ING4 Finance IA  ·  2026</a:t>
            </a:r>
            <a:endParaRPr lang="en-US" sz="800" dirty="0"/>
          </a:p>
        </p:txBody>
      </p:sp>
      <p:sp>
        <p:nvSpPr>
          <p:cNvPr id="42" name="Text 40"/>
          <p:cNvSpPr/>
          <p:nvPr/>
        </p:nvSpPr>
        <p:spPr>
          <a:xfrm>
            <a:off x="8229600" y="4901184"/>
            <a:ext cx="640080" cy="22860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6 / 12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201168"/>
            <a:ext cx="54864" cy="292608"/>
          </a:xfrm>
          <a:prstGeom prst="rect">
            <a:avLst/>
          </a:prstGeom>
          <a:solidFill>
            <a:srgbClr val="1D4ED8"/>
          </a:solidFill>
          <a:ln w="12700">
            <a:solidFill>
              <a:srgbClr val="1D4ED8"/>
            </a:solidFill>
            <a:prstDash val="solid"/>
          </a:ln>
        </p:spPr>
        <p:txBody>
          <a:bodyPr/>
          <a:lstStyle/>
          <a:p>
            <a:endParaRPr lang="fr-FR"/>
          </a:p>
        </p:txBody>
      </p:sp>
      <p:sp>
        <p:nvSpPr>
          <p:cNvPr id="3" name="Text 1"/>
          <p:cNvSpPr/>
          <p:nvPr/>
        </p:nvSpPr>
        <p:spPr>
          <a:xfrm>
            <a:off x="502920" y="201168"/>
            <a:ext cx="3657600" cy="292608"/>
          </a:xfrm>
          <a:prstGeom prst="rect">
            <a:avLst/>
          </a:prstGeom>
          <a:noFill/>
          <a:ln/>
        </p:spPr>
        <p:txBody>
          <a:bodyPr wrap="square" lIns="0" tIns="0" rIns="0" bIns="0" rtlCol="0" anchor="ctr"/>
          <a:lstStyle/>
          <a:p>
            <a:pPr marL="0" indent="0">
              <a:buNone/>
            </a:pPr>
            <a:r>
              <a:rPr lang="en-US" sz="900" b="1" kern="0" spc="200" dirty="0">
                <a:solidFill>
                  <a:srgbClr val="1D4ED8"/>
                </a:solidFill>
                <a:latin typeface="Calibri" pitchFamily="34" charset="0"/>
                <a:ea typeface="Calibri" pitchFamily="34" charset="-122"/>
                <a:cs typeface="Calibri" pitchFamily="34" charset="-120"/>
              </a:rPr>
              <a:t>04 — EXPLICABILITÉ XAI</a:t>
            </a:r>
            <a:endParaRPr lang="en-US" sz="900" dirty="0"/>
          </a:p>
        </p:txBody>
      </p:sp>
      <p:sp>
        <p:nvSpPr>
          <p:cNvPr id="4" name="Text 2"/>
          <p:cNvSpPr/>
          <p:nvPr/>
        </p:nvSpPr>
        <p:spPr>
          <a:xfrm>
            <a:off x="365760" y="548640"/>
            <a:ext cx="8412480" cy="502920"/>
          </a:xfrm>
          <a:prstGeom prst="rect">
            <a:avLst/>
          </a:prstGeom>
          <a:noFill/>
          <a:ln/>
        </p:spPr>
        <p:txBody>
          <a:bodyPr wrap="square" rtlCol="0" anchor="ctr"/>
          <a:lstStyle/>
          <a:p>
            <a:pPr marL="0" indent="0">
              <a:buNone/>
            </a:pPr>
            <a:r>
              <a:rPr lang="en-US" sz="2600" b="1" dirty="0">
                <a:solidFill>
                  <a:srgbClr val="1E293B"/>
                </a:solidFill>
                <a:latin typeface="Calibri Light" pitchFamily="34" charset="0"/>
                <a:ea typeface="Calibri Light" pitchFamily="34" charset="-122"/>
                <a:cs typeface="Calibri Light" pitchFamily="34" charset="-120"/>
              </a:rPr>
              <a:t>LIME &amp; Explications contrefactuelles</a:t>
            </a:r>
            <a:endParaRPr lang="en-US" sz="2600" dirty="0"/>
          </a:p>
        </p:txBody>
      </p:sp>
      <p:sp>
        <p:nvSpPr>
          <p:cNvPr id="5" name="Shape 3"/>
          <p:cNvSpPr/>
          <p:nvPr/>
        </p:nvSpPr>
        <p:spPr>
          <a:xfrm>
            <a:off x="365760" y="1188720"/>
            <a:ext cx="4023360" cy="33832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6" name="Shape 4"/>
          <p:cNvSpPr/>
          <p:nvPr/>
        </p:nvSpPr>
        <p:spPr>
          <a:xfrm>
            <a:off x="365760" y="1188720"/>
            <a:ext cx="4023360" cy="64008"/>
          </a:xfrm>
          <a:prstGeom prst="rect">
            <a:avLst/>
          </a:prstGeom>
          <a:solidFill>
            <a:srgbClr val="1D4ED8"/>
          </a:solidFill>
          <a:ln w="12700">
            <a:solidFill>
              <a:srgbClr val="1D4ED8"/>
            </a:solidFill>
            <a:prstDash val="solid"/>
          </a:ln>
        </p:spPr>
        <p:txBody>
          <a:bodyPr/>
          <a:lstStyle/>
          <a:p>
            <a:endParaRPr lang="fr-FR"/>
          </a:p>
        </p:txBody>
      </p:sp>
      <p:sp>
        <p:nvSpPr>
          <p:cNvPr id="7" name="Text 5"/>
          <p:cNvSpPr/>
          <p:nvPr/>
        </p:nvSpPr>
        <p:spPr>
          <a:xfrm>
            <a:off x="502920" y="1298448"/>
            <a:ext cx="3749040" cy="320040"/>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LIME — Approximation locale</a:t>
            </a:r>
            <a:endParaRPr lang="en-US" sz="1200" dirty="0"/>
          </a:p>
        </p:txBody>
      </p:sp>
      <p:sp>
        <p:nvSpPr>
          <p:cNvPr id="8" name="Text 6"/>
          <p:cNvSpPr/>
          <p:nvPr/>
        </p:nvSpPr>
        <p:spPr>
          <a:xfrm>
            <a:off x="502920" y="1664208"/>
            <a:ext cx="3749040" cy="59436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Génère des milliers de profils légèrement modifiés autour du client analysé, observe les changements de prédiction, et ajuste un modèle linéaire local.</a:t>
            </a:r>
            <a:endParaRPr lang="en-US" sz="1050" dirty="0"/>
          </a:p>
        </p:txBody>
      </p:sp>
      <p:sp>
        <p:nvSpPr>
          <p:cNvPr id="9" name="Text 7"/>
          <p:cNvSpPr/>
          <p:nvPr/>
        </p:nvSpPr>
        <p:spPr>
          <a:xfrm>
            <a:off x="502920" y="2377440"/>
            <a:ext cx="3749040" cy="274320"/>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LIME vs SHAP :</a:t>
            </a:r>
            <a:endParaRPr lang="en-US" sz="1100" dirty="0"/>
          </a:p>
        </p:txBody>
      </p:sp>
      <p:sp>
        <p:nvSpPr>
          <p:cNvPr id="10" name="Shape 8"/>
          <p:cNvSpPr/>
          <p:nvPr/>
        </p:nvSpPr>
        <p:spPr>
          <a:xfrm>
            <a:off x="502920" y="2724912"/>
            <a:ext cx="54864" cy="274320"/>
          </a:xfrm>
          <a:prstGeom prst="rect">
            <a:avLst/>
          </a:prstGeom>
          <a:solidFill>
            <a:srgbClr val="1D4ED8"/>
          </a:solidFill>
          <a:ln w="12700">
            <a:solidFill>
              <a:srgbClr val="1D4ED8"/>
            </a:solidFill>
            <a:prstDash val="solid"/>
          </a:ln>
        </p:spPr>
        <p:txBody>
          <a:bodyPr/>
          <a:lstStyle/>
          <a:p>
            <a:endParaRPr lang="fr-FR"/>
          </a:p>
        </p:txBody>
      </p:sp>
      <p:sp>
        <p:nvSpPr>
          <p:cNvPr id="11" name="Text 9"/>
          <p:cNvSpPr/>
          <p:nvPr/>
        </p:nvSpPr>
        <p:spPr>
          <a:xfrm>
            <a:off x="640080" y="2724912"/>
            <a:ext cx="640080" cy="274320"/>
          </a:xfrm>
          <a:prstGeom prst="rect">
            <a:avLst/>
          </a:prstGeom>
          <a:noFill/>
          <a:ln/>
        </p:spPr>
        <p:txBody>
          <a:bodyPr wrap="square" lIns="0" tIns="0" rIns="0" bIns="0" rtlCol="0" anchor="ctr"/>
          <a:lstStyle/>
          <a:p>
            <a:pPr marL="0" indent="0">
              <a:buNone/>
            </a:pPr>
            <a:r>
              <a:rPr lang="en-US" sz="1100" b="1" dirty="0">
                <a:solidFill>
                  <a:srgbClr val="1D4ED8"/>
                </a:solidFill>
                <a:latin typeface="Calibri" pitchFamily="34" charset="0"/>
                <a:ea typeface="Calibri" pitchFamily="34" charset="-122"/>
                <a:cs typeface="Calibri" pitchFamily="34" charset="-120"/>
              </a:rPr>
              <a:t>SHAP</a:t>
            </a:r>
            <a:endParaRPr lang="en-US" sz="1100" dirty="0"/>
          </a:p>
        </p:txBody>
      </p:sp>
      <p:sp>
        <p:nvSpPr>
          <p:cNvPr id="12" name="Text 10"/>
          <p:cNvSpPr/>
          <p:nvPr/>
        </p:nvSpPr>
        <p:spPr>
          <a:xfrm>
            <a:off x="1325880" y="2724912"/>
            <a:ext cx="2926080" cy="27432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Exact, stable, global + local</a:t>
            </a:r>
            <a:endParaRPr lang="en-US" sz="1050" dirty="0"/>
          </a:p>
        </p:txBody>
      </p:sp>
      <p:sp>
        <p:nvSpPr>
          <p:cNvPr id="13" name="Shape 11"/>
          <p:cNvSpPr/>
          <p:nvPr/>
        </p:nvSpPr>
        <p:spPr>
          <a:xfrm>
            <a:off x="502920" y="3182112"/>
            <a:ext cx="54864" cy="274320"/>
          </a:xfrm>
          <a:prstGeom prst="rect">
            <a:avLst/>
          </a:prstGeom>
          <a:solidFill>
            <a:srgbClr val="1D4ED8"/>
          </a:solidFill>
          <a:ln w="12700">
            <a:solidFill>
              <a:srgbClr val="1D4ED8"/>
            </a:solidFill>
            <a:prstDash val="solid"/>
          </a:ln>
        </p:spPr>
        <p:txBody>
          <a:bodyPr/>
          <a:lstStyle/>
          <a:p>
            <a:endParaRPr lang="fr-FR"/>
          </a:p>
        </p:txBody>
      </p:sp>
      <p:sp>
        <p:nvSpPr>
          <p:cNvPr id="14" name="Text 12"/>
          <p:cNvSpPr/>
          <p:nvPr/>
        </p:nvSpPr>
        <p:spPr>
          <a:xfrm>
            <a:off x="640080" y="3182112"/>
            <a:ext cx="640080" cy="274320"/>
          </a:xfrm>
          <a:prstGeom prst="rect">
            <a:avLst/>
          </a:prstGeom>
          <a:noFill/>
          <a:ln/>
        </p:spPr>
        <p:txBody>
          <a:bodyPr wrap="square" lIns="0" tIns="0" rIns="0" bIns="0" rtlCol="0" anchor="ctr"/>
          <a:lstStyle/>
          <a:p>
            <a:pPr marL="0" indent="0">
              <a:buNone/>
            </a:pPr>
            <a:r>
              <a:rPr lang="en-US" sz="1100" b="1" dirty="0">
                <a:solidFill>
                  <a:srgbClr val="1D4ED8"/>
                </a:solidFill>
                <a:latin typeface="Calibri" pitchFamily="34" charset="0"/>
                <a:ea typeface="Calibri" pitchFamily="34" charset="-122"/>
                <a:cs typeface="Calibri" pitchFamily="34" charset="-120"/>
              </a:rPr>
              <a:t>LIME</a:t>
            </a:r>
            <a:endParaRPr lang="en-US" sz="1100" dirty="0"/>
          </a:p>
        </p:txBody>
      </p:sp>
      <p:sp>
        <p:nvSpPr>
          <p:cNvPr id="15" name="Text 13"/>
          <p:cNvSpPr/>
          <p:nvPr/>
        </p:nvSpPr>
        <p:spPr>
          <a:xfrm>
            <a:off x="1325880" y="3182112"/>
            <a:ext cx="2926080" cy="274320"/>
          </a:xfrm>
          <a:prstGeom prst="rect">
            <a:avLst/>
          </a:prstGeom>
          <a:noFill/>
          <a:ln/>
        </p:spPr>
        <p:txBody>
          <a:bodyPr wrap="square" rtlCol="0" anchor="ctr"/>
          <a:lstStyle/>
          <a:p>
            <a:pPr marL="0" indent="0">
              <a:buNone/>
            </a:pPr>
            <a:r>
              <a:rPr lang="en-US" sz="1050" dirty="0">
                <a:solidFill>
                  <a:srgbClr val="374151"/>
                </a:solidFill>
                <a:latin typeface="Calibri" pitchFamily="34" charset="0"/>
                <a:ea typeface="Calibri" pitchFamily="34" charset="-122"/>
                <a:cs typeface="Calibri" pitchFamily="34" charset="-120"/>
              </a:rPr>
              <a:t>Approximatif, rapide, local uniquement</a:t>
            </a:r>
            <a:endParaRPr lang="en-US" sz="1050" dirty="0"/>
          </a:p>
        </p:txBody>
      </p:sp>
      <p:sp>
        <p:nvSpPr>
          <p:cNvPr id="16" name="Text 14"/>
          <p:cNvSpPr/>
          <p:nvPr/>
        </p:nvSpPr>
        <p:spPr>
          <a:xfrm>
            <a:off x="502920" y="3794760"/>
            <a:ext cx="3749040" cy="594360"/>
          </a:xfrm>
          <a:prstGeom prst="rect">
            <a:avLst/>
          </a:prstGeom>
          <a:noFill/>
          <a:ln/>
        </p:spPr>
        <p:txBody>
          <a:bodyPr wrap="square"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Les deux méthodes se complètent : SHAP pour l'audit réglementaire, LIME pour l'explication rapide d'un cas individuel.</a:t>
            </a:r>
            <a:endParaRPr lang="en-US" sz="1000" dirty="0"/>
          </a:p>
        </p:txBody>
      </p:sp>
      <p:sp>
        <p:nvSpPr>
          <p:cNvPr id="17" name="Shape 15"/>
          <p:cNvSpPr/>
          <p:nvPr/>
        </p:nvSpPr>
        <p:spPr>
          <a:xfrm>
            <a:off x="4617720" y="1188720"/>
            <a:ext cx="4160520" cy="3383280"/>
          </a:xfrm>
          <a:prstGeom prst="rect">
            <a:avLst/>
          </a:prstGeom>
          <a:solidFill>
            <a:srgbClr val="0F2444"/>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8" name="Shape 16"/>
          <p:cNvSpPr/>
          <p:nvPr/>
        </p:nvSpPr>
        <p:spPr>
          <a:xfrm>
            <a:off x="4617720" y="1188720"/>
            <a:ext cx="4160520" cy="64008"/>
          </a:xfrm>
          <a:prstGeom prst="rect">
            <a:avLst/>
          </a:prstGeom>
          <a:solidFill>
            <a:srgbClr val="16A34A"/>
          </a:solidFill>
          <a:ln w="12700">
            <a:solidFill>
              <a:srgbClr val="16A34A"/>
            </a:solidFill>
            <a:prstDash val="solid"/>
          </a:ln>
        </p:spPr>
        <p:txBody>
          <a:bodyPr/>
          <a:lstStyle/>
          <a:p>
            <a:endParaRPr lang="fr-FR"/>
          </a:p>
        </p:txBody>
      </p:sp>
      <p:sp>
        <p:nvSpPr>
          <p:cNvPr id="19" name="Text 17"/>
          <p:cNvSpPr/>
          <p:nvPr/>
        </p:nvSpPr>
        <p:spPr>
          <a:xfrm>
            <a:off x="4754880" y="1298448"/>
            <a:ext cx="3840480" cy="320040"/>
          </a:xfrm>
          <a:prstGeom prst="rect">
            <a:avLst/>
          </a:prstGeom>
          <a:noFill/>
          <a:ln/>
        </p:spPr>
        <p:txBody>
          <a:bodyPr wrap="square" rtlCol="0" anchor="ctr"/>
          <a:lstStyle/>
          <a:p>
            <a:pPr marL="0" indent="0">
              <a:buNone/>
            </a:pPr>
            <a:r>
              <a:rPr lang="en-US" sz="1200" b="1" dirty="0">
                <a:solidFill>
                  <a:srgbClr val="BFDBFE"/>
                </a:solidFill>
                <a:latin typeface="Calibri" pitchFamily="34" charset="0"/>
                <a:ea typeface="Calibri" pitchFamily="34" charset="-122"/>
                <a:cs typeface="Calibri" pitchFamily="34" charset="-120"/>
              </a:rPr>
              <a:t>DiCE — Explications contrefactuelles</a:t>
            </a:r>
            <a:endParaRPr lang="en-US" sz="1200" dirty="0"/>
          </a:p>
        </p:txBody>
      </p:sp>
      <p:sp>
        <p:nvSpPr>
          <p:cNvPr id="20" name="Text 18"/>
          <p:cNvSpPr/>
          <p:nvPr/>
        </p:nvSpPr>
        <p:spPr>
          <a:xfrm>
            <a:off x="4754880" y="1691640"/>
            <a:ext cx="3840480" cy="320040"/>
          </a:xfrm>
          <a:prstGeom prst="rect">
            <a:avLst/>
          </a:prstGeom>
          <a:noFill/>
          <a:ln/>
        </p:spPr>
        <p:txBody>
          <a:bodyPr wrap="square"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La question la plus utile pour un client refusé :</a:t>
            </a:r>
            <a:endParaRPr lang="en-US" sz="1050" dirty="0"/>
          </a:p>
        </p:txBody>
      </p:sp>
      <p:sp>
        <p:nvSpPr>
          <p:cNvPr id="21" name="Shape 19"/>
          <p:cNvSpPr/>
          <p:nvPr/>
        </p:nvSpPr>
        <p:spPr>
          <a:xfrm>
            <a:off x="4754880" y="2084832"/>
            <a:ext cx="3657600" cy="777240"/>
          </a:xfrm>
          <a:prstGeom prst="rect">
            <a:avLst/>
          </a:prstGeom>
          <a:solidFill>
            <a:srgbClr val="0D2035"/>
          </a:solidFill>
          <a:ln w="12700">
            <a:solidFill>
              <a:srgbClr val="1A3550"/>
            </a:solidFill>
            <a:prstDash val="solid"/>
          </a:ln>
        </p:spPr>
        <p:txBody>
          <a:bodyPr/>
          <a:lstStyle/>
          <a:p>
            <a:endParaRPr lang="fr-FR"/>
          </a:p>
        </p:txBody>
      </p:sp>
      <p:sp>
        <p:nvSpPr>
          <p:cNvPr id="22" name="Text 20"/>
          <p:cNvSpPr/>
          <p:nvPr/>
        </p:nvSpPr>
        <p:spPr>
          <a:xfrm>
            <a:off x="4846320" y="2121408"/>
            <a:ext cx="3474720" cy="685800"/>
          </a:xfrm>
          <a:prstGeom prst="rect">
            <a:avLst/>
          </a:prstGeom>
          <a:noFill/>
          <a:ln/>
        </p:spPr>
        <p:txBody>
          <a:bodyPr wrap="square" rtlCol="0" anchor="ctr"/>
          <a:lstStyle/>
          <a:p>
            <a:pPr marL="0" indent="0" algn="ctr">
              <a:buNone/>
            </a:pPr>
            <a:r>
              <a:rPr lang="en-US" sz="1400" b="1" dirty="0">
                <a:solidFill>
                  <a:srgbClr val="BFDBFE"/>
                </a:solidFill>
                <a:latin typeface="Calibri Light" pitchFamily="34" charset="0"/>
                <a:ea typeface="Calibri Light" pitchFamily="34" charset="-122"/>
                <a:cs typeface="Calibri Light" pitchFamily="34" charset="-120"/>
              </a:rPr>
              <a:t>« Que dois-je changer</a:t>
            </a:r>
            <a:endParaRPr lang="en-US" sz="1400" dirty="0"/>
          </a:p>
          <a:p>
            <a:pPr marL="0" indent="0" algn="ctr">
              <a:buNone/>
            </a:pPr>
            <a:r>
              <a:rPr lang="en-US" sz="1400" b="1" dirty="0">
                <a:solidFill>
                  <a:srgbClr val="BFDBFE"/>
                </a:solidFill>
                <a:latin typeface="Calibri Light" pitchFamily="34" charset="0"/>
                <a:ea typeface="Calibri Light" pitchFamily="34" charset="-122"/>
                <a:cs typeface="Calibri Light" pitchFamily="34" charset="-120"/>
              </a:rPr>
              <a:t>pour être accepté ? »</a:t>
            </a:r>
            <a:endParaRPr lang="en-US" sz="1400" dirty="0"/>
          </a:p>
        </p:txBody>
      </p:sp>
      <p:sp>
        <p:nvSpPr>
          <p:cNvPr id="23" name="Text 21"/>
          <p:cNvSpPr/>
          <p:nvPr/>
        </p:nvSpPr>
        <p:spPr>
          <a:xfrm>
            <a:off x="4754880" y="2971800"/>
            <a:ext cx="3840480" cy="274320"/>
          </a:xfrm>
          <a:prstGeom prst="rect">
            <a:avLst/>
          </a:prstGeom>
          <a:noFill/>
          <a:ln/>
        </p:spPr>
        <p:txBody>
          <a:bodyPr wrap="square" rtlCol="0" anchor="ctr"/>
          <a:lstStyle/>
          <a:p>
            <a:pPr marL="0" indent="0">
              <a:buNone/>
            </a:pPr>
            <a:r>
              <a:rPr lang="en-US" sz="1000" b="1" dirty="0">
                <a:solidFill>
                  <a:srgbClr val="BFDBFE"/>
                </a:solidFill>
                <a:latin typeface="Calibri" pitchFamily="34" charset="0"/>
                <a:ea typeface="Calibri" pitchFamily="34" charset="-122"/>
                <a:cs typeface="Calibri" pitchFamily="34" charset="-120"/>
              </a:rPr>
              <a:t>Exemple réel :</a:t>
            </a:r>
            <a:endParaRPr lang="en-US" sz="1000" dirty="0"/>
          </a:p>
        </p:txBody>
      </p:sp>
      <p:sp>
        <p:nvSpPr>
          <p:cNvPr id="24" name="Shape 22"/>
          <p:cNvSpPr/>
          <p:nvPr/>
        </p:nvSpPr>
        <p:spPr>
          <a:xfrm>
            <a:off x="4754880" y="3310128"/>
            <a:ext cx="3474720" cy="347472"/>
          </a:xfrm>
          <a:prstGeom prst="rect">
            <a:avLst/>
          </a:prstGeom>
          <a:solidFill>
            <a:srgbClr val="0D2035"/>
          </a:solidFill>
          <a:ln w="12700">
            <a:solidFill>
              <a:srgbClr val="1A3550"/>
            </a:solidFill>
            <a:prstDash val="solid"/>
          </a:ln>
        </p:spPr>
        <p:txBody>
          <a:bodyPr/>
          <a:lstStyle/>
          <a:p>
            <a:endParaRPr lang="fr-FR"/>
          </a:p>
        </p:txBody>
      </p:sp>
      <p:sp>
        <p:nvSpPr>
          <p:cNvPr id="25" name="Text 23"/>
          <p:cNvSpPr/>
          <p:nvPr/>
        </p:nvSpPr>
        <p:spPr>
          <a:xfrm>
            <a:off x="4864608" y="3337560"/>
            <a:ext cx="822960" cy="274320"/>
          </a:xfrm>
          <a:prstGeom prst="rect">
            <a:avLst/>
          </a:prstGeom>
          <a:noFill/>
          <a:ln/>
        </p:spPr>
        <p:txBody>
          <a:bodyPr wrap="square" rtlCol="0" anchor="ctr"/>
          <a:lstStyle/>
          <a:p>
            <a:pPr marL="0" indent="0">
              <a:buNone/>
            </a:pPr>
            <a:r>
              <a:rPr lang="en-US" sz="1000" b="1" dirty="0">
                <a:solidFill>
                  <a:srgbClr val="94A3B8"/>
                </a:solidFill>
                <a:latin typeface="Calibri" pitchFamily="34" charset="0"/>
                <a:ea typeface="Calibri" pitchFamily="34" charset="-122"/>
                <a:cs typeface="Calibri" pitchFamily="34" charset="-120"/>
              </a:rPr>
              <a:t>Durée :</a:t>
            </a:r>
            <a:endParaRPr lang="en-US" sz="1000" dirty="0"/>
          </a:p>
        </p:txBody>
      </p:sp>
      <p:sp>
        <p:nvSpPr>
          <p:cNvPr id="26" name="Text 24"/>
          <p:cNvSpPr/>
          <p:nvPr/>
        </p:nvSpPr>
        <p:spPr>
          <a:xfrm>
            <a:off x="5715000" y="3337560"/>
            <a:ext cx="2377440" cy="274320"/>
          </a:xfrm>
          <a:prstGeom prst="rect">
            <a:avLst/>
          </a:prstGeom>
          <a:noFill/>
          <a:ln/>
        </p:spPr>
        <p:txBody>
          <a:bodyPr wrap="square"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48 mois → 28 mois</a:t>
            </a:r>
            <a:endParaRPr lang="en-US" sz="1100" dirty="0"/>
          </a:p>
        </p:txBody>
      </p:sp>
      <p:sp>
        <p:nvSpPr>
          <p:cNvPr id="27" name="Shape 25"/>
          <p:cNvSpPr/>
          <p:nvPr/>
        </p:nvSpPr>
        <p:spPr>
          <a:xfrm>
            <a:off x="4754880" y="3767328"/>
            <a:ext cx="3474720" cy="347472"/>
          </a:xfrm>
          <a:prstGeom prst="rect">
            <a:avLst/>
          </a:prstGeom>
          <a:solidFill>
            <a:srgbClr val="0D2035"/>
          </a:solidFill>
          <a:ln w="12700">
            <a:solidFill>
              <a:srgbClr val="1A3550"/>
            </a:solidFill>
            <a:prstDash val="solid"/>
          </a:ln>
        </p:spPr>
        <p:txBody>
          <a:bodyPr/>
          <a:lstStyle/>
          <a:p>
            <a:endParaRPr lang="fr-FR"/>
          </a:p>
        </p:txBody>
      </p:sp>
      <p:sp>
        <p:nvSpPr>
          <p:cNvPr id="28" name="Text 26"/>
          <p:cNvSpPr/>
          <p:nvPr/>
        </p:nvSpPr>
        <p:spPr>
          <a:xfrm>
            <a:off x="4864608" y="3794760"/>
            <a:ext cx="822960" cy="274320"/>
          </a:xfrm>
          <a:prstGeom prst="rect">
            <a:avLst/>
          </a:prstGeom>
          <a:noFill/>
          <a:ln/>
        </p:spPr>
        <p:txBody>
          <a:bodyPr wrap="square" rtlCol="0" anchor="ctr"/>
          <a:lstStyle/>
          <a:p>
            <a:pPr marL="0" indent="0">
              <a:buNone/>
            </a:pPr>
            <a:r>
              <a:rPr lang="en-US" sz="1000" b="1" dirty="0">
                <a:solidFill>
                  <a:srgbClr val="94A3B8"/>
                </a:solidFill>
                <a:latin typeface="Calibri" pitchFamily="34" charset="0"/>
                <a:ea typeface="Calibri" pitchFamily="34" charset="-122"/>
                <a:cs typeface="Calibri" pitchFamily="34" charset="-120"/>
              </a:rPr>
              <a:t>Montant :</a:t>
            </a:r>
            <a:endParaRPr lang="en-US" sz="1000" dirty="0"/>
          </a:p>
        </p:txBody>
      </p:sp>
      <p:sp>
        <p:nvSpPr>
          <p:cNvPr id="29" name="Text 27"/>
          <p:cNvSpPr/>
          <p:nvPr/>
        </p:nvSpPr>
        <p:spPr>
          <a:xfrm>
            <a:off x="5715000" y="3794760"/>
            <a:ext cx="2377440" cy="274320"/>
          </a:xfrm>
          <a:prstGeom prst="rect">
            <a:avLst/>
          </a:prstGeom>
          <a:noFill/>
          <a:ln/>
        </p:spPr>
        <p:txBody>
          <a:bodyPr wrap="square" rtlCol="0" anchor="ctr"/>
          <a:lstStyle/>
          <a:p>
            <a:pPr marL="0" indent="0">
              <a:buNone/>
            </a:pPr>
            <a:r>
              <a:rPr lang="en-US" sz="1100" b="1" dirty="0">
                <a:solidFill>
                  <a:srgbClr val="16A34A"/>
                </a:solidFill>
                <a:latin typeface="Calibri" pitchFamily="34" charset="0"/>
                <a:ea typeface="Calibri" pitchFamily="34" charset="-122"/>
                <a:cs typeface="Calibri" pitchFamily="34" charset="-120"/>
              </a:rPr>
              <a:t>12 000 → 8 000 DM</a:t>
            </a:r>
            <a:endParaRPr lang="en-US" sz="1100" dirty="0"/>
          </a:p>
        </p:txBody>
      </p:sp>
      <p:sp>
        <p:nvSpPr>
          <p:cNvPr id="30" name="Text 28"/>
          <p:cNvSpPr/>
          <p:nvPr/>
        </p:nvSpPr>
        <p:spPr>
          <a:xfrm>
            <a:off x="4754880" y="4315968"/>
            <a:ext cx="3840480" cy="292608"/>
          </a:xfrm>
          <a:prstGeom prst="rect">
            <a:avLst/>
          </a:prstGeom>
          <a:noFill/>
          <a:ln/>
        </p:spPr>
        <p:txBody>
          <a:bodyPr wrap="square"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 Décision : ACCORDÉ</a:t>
            </a:r>
            <a:endParaRPr lang="en-US" sz="1200" dirty="0"/>
          </a:p>
        </p:txBody>
      </p:sp>
      <p:sp>
        <p:nvSpPr>
          <p:cNvPr id="31" name="Shape 29"/>
          <p:cNvSpPr/>
          <p:nvPr/>
        </p:nvSpPr>
        <p:spPr>
          <a:xfrm>
            <a:off x="0" y="4892040"/>
            <a:ext cx="9144000" cy="251460"/>
          </a:xfrm>
          <a:prstGeom prst="rect">
            <a:avLst/>
          </a:prstGeom>
          <a:solidFill>
            <a:srgbClr val="0A1A30"/>
          </a:solidFill>
          <a:ln w="12700">
            <a:solidFill>
              <a:srgbClr val="0A1A30"/>
            </a:solidFill>
            <a:prstDash val="solid"/>
          </a:ln>
        </p:spPr>
        <p:txBody>
          <a:bodyPr/>
          <a:lstStyle/>
          <a:p>
            <a:endParaRPr lang="fr-FR"/>
          </a:p>
        </p:txBody>
      </p:sp>
      <p:sp>
        <p:nvSpPr>
          <p:cNvPr id="32" name="Text 30"/>
          <p:cNvSpPr/>
          <p:nvPr/>
        </p:nvSpPr>
        <p:spPr>
          <a:xfrm>
            <a:off x="320040" y="4901184"/>
            <a:ext cx="6400800" cy="22860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Robin Lamy  ·  ECE Paris ING4 Finance IA  ·  2026</a:t>
            </a:r>
            <a:endParaRPr lang="en-US" sz="800" dirty="0"/>
          </a:p>
        </p:txBody>
      </p:sp>
      <p:sp>
        <p:nvSpPr>
          <p:cNvPr id="33" name="Text 31"/>
          <p:cNvSpPr/>
          <p:nvPr/>
        </p:nvSpPr>
        <p:spPr>
          <a:xfrm>
            <a:off x="8229600" y="4901184"/>
            <a:ext cx="640080" cy="22860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7 / 12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201168"/>
            <a:ext cx="54864" cy="292608"/>
          </a:xfrm>
          <a:prstGeom prst="rect">
            <a:avLst/>
          </a:prstGeom>
          <a:solidFill>
            <a:srgbClr val="1D4ED8"/>
          </a:solidFill>
          <a:ln w="12700">
            <a:solidFill>
              <a:srgbClr val="1D4ED8"/>
            </a:solidFill>
            <a:prstDash val="solid"/>
          </a:ln>
        </p:spPr>
        <p:txBody>
          <a:bodyPr/>
          <a:lstStyle/>
          <a:p>
            <a:endParaRPr lang="fr-FR"/>
          </a:p>
        </p:txBody>
      </p:sp>
      <p:sp>
        <p:nvSpPr>
          <p:cNvPr id="3" name="Text 1"/>
          <p:cNvSpPr/>
          <p:nvPr/>
        </p:nvSpPr>
        <p:spPr>
          <a:xfrm>
            <a:off x="502920" y="201168"/>
            <a:ext cx="3657600" cy="292608"/>
          </a:xfrm>
          <a:prstGeom prst="rect">
            <a:avLst/>
          </a:prstGeom>
          <a:noFill/>
          <a:ln/>
        </p:spPr>
        <p:txBody>
          <a:bodyPr wrap="square" lIns="0" tIns="0" rIns="0" bIns="0" rtlCol="0" anchor="ctr"/>
          <a:lstStyle/>
          <a:p>
            <a:pPr marL="0" indent="0">
              <a:buNone/>
            </a:pPr>
            <a:r>
              <a:rPr lang="en-US" sz="900" b="1" kern="0" spc="200" dirty="0">
                <a:solidFill>
                  <a:srgbClr val="1D4ED8"/>
                </a:solidFill>
                <a:latin typeface="Calibri" pitchFamily="34" charset="0"/>
                <a:ea typeface="Calibri" pitchFamily="34" charset="-122"/>
                <a:cs typeface="Calibri" pitchFamily="34" charset="-120"/>
              </a:rPr>
              <a:t>05 — AUDIT DE BIAIS</a:t>
            </a:r>
            <a:endParaRPr lang="en-US" sz="900" dirty="0"/>
          </a:p>
        </p:txBody>
      </p:sp>
      <p:sp>
        <p:nvSpPr>
          <p:cNvPr id="4" name="Text 2"/>
          <p:cNvSpPr/>
          <p:nvPr/>
        </p:nvSpPr>
        <p:spPr>
          <a:xfrm>
            <a:off x="365760" y="548640"/>
            <a:ext cx="8412480" cy="502920"/>
          </a:xfrm>
          <a:prstGeom prst="rect">
            <a:avLst/>
          </a:prstGeom>
          <a:noFill/>
          <a:ln/>
        </p:spPr>
        <p:txBody>
          <a:bodyPr wrap="square" rtlCol="0" anchor="ctr"/>
          <a:lstStyle/>
          <a:p>
            <a:pPr marL="0" indent="0">
              <a:buNone/>
            </a:pPr>
            <a:r>
              <a:rPr lang="en-US" sz="2600" b="1" dirty="0">
                <a:solidFill>
                  <a:srgbClr val="1E293B"/>
                </a:solidFill>
                <a:latin typeface="Calibri Light" pitchFamily="34" charset="0"/>
                <a:ea typeface="Calibri Light" pitchFamily="34" charset="-122"/>
                <a:cs typeface="Calibri Light" pitchFamily="34" charset="-120"/>
              </a:rPr>
              <a:t>Fairlearn — Équité par groupe d'âge</a:t>
            </a:r>
            <a:endParaRPr lang="en-US" sz="2600" dirty="0"/>
          </a:p>
        </p:txBody>
      </p:sp>
      <p:sp>
        <p:nvSpPr>
          <p:cNvPr id="5" name="Shape 3"/>
          <p:cNvSpPr/>
          <p:nvPr/>
        </p:nvSpPr>
        <p:spPr>
          <a:xfrm>
            <a:off x="365760" y="1188720"/>
            <a:ext cx="2606040" cy="15544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6" name="Shape 4"/>
          <p:cNvSpPr/>
          <p:nvPr/>
        </p:nvSpPr>
        <p:spPr>
          <a:xfrm>
            <a:off x="365760" y="1188720"/>
            <a:ext cx="2606040" cy="64008"/>
          </a:xfrm>
          <a:prstGeom prst="rect">
            <a:avLst/>
          </a:prstGeom>
          <a:solidFill>
            <a:srgbClr val="D97706"/>
          </a:solidFill>
          <a:ln w="12700">
            <a:solidFill>
              <a:srgbClr val="D97706"/>
            </a:solidFill>
            <a:prstDash val="solid"/>
          </a:ln>
        </p:spPr>
        <p:txBody>
          <a:bodyPr/>
          <a:lstStyle/>
          <a:p>
            <a:endParaRPr lang="fr-FR"/>
          </a:p>
        </p:txBody>
      </p:sp>
      <p:sp>
        <p:nvSpPr>
          <p:cNvPr id="7" name="Text 5"/>
          <p:cNvSpPr/>
          <p:nvPr/>
        </p:nvSpPr>
        <p:spPr>
          <a:xfrm>
            <a:off x="502920" y="1298448"/>
            <a:ext cx="2331720" cy="502920"/>
          </a:xfrm>
          <a:prstGeom prst="rect">
            <a:avLst/>
          </a:prstGeom>
          <a:noFill/>
          <a:ln/>
        </p:spPr>
        <p:txBody>
          <a:bodyPr wrap="square"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Jeunes</a:t>
            </a:r>
            <a:endParaRPr lang="en-US" sz="1100" dirty="0"/>
          </a:p>
          <a:p>
            <a:pPr marL="0" indent="0" algn="ctr">
              <a:buNone/>
            </a:pPr>
            <a:r>
              <a:rPr lang="en-US" sz="1100" b="1" dirty="0">
                <a:solidFill>
                  <a:srgbClr val="1E293B"/>
                </a:solidFill>
                <a:latin typeface="Calibri" pitchFamily="34" charset="0"/>
                <a:ea typeface="Calibri" pitchFamily="34" charset="-122"/>
                <a:cs typeface="Calibri" pitchFamily="34" charset="-120"/>
              </a:rPr>
              <a:t>&lt; 30 ans</a:t>
            </a:r>
            <a:endParaRPr lang="en-US" sz="1100" dirty="0"/>
          </a:p>
        </p:txBody>
      </p:sp>
      <p:sp>
        <p:nvSpPr>
          <p:cNvPr id="8" name="Text 6"/>
          <p:cNvSpPr/>
          <p:nvPr/>
        </p:nvSpPr>
        <p:spPr>
          <a:xfrm>
            <a:off x="502920" y="1828800"/>
            <a:ext cx="2331720" cy="502920"/>
          </a:xfrm>
          <a:prstGeom prst="rect">
            <a:avLst/>
          </a:prstGeom>
          <a:noFill/>
          <a:ln/>
        </p:spPr>
        <p:txBody>
          <a:bodyPr wrap="square" rtlCol="0" anchor="ctr"/>
          <a:lstStyle/>
          <a:p>
            <a:pPr marL="0" indent="0" algn="ctr">
              <a:buNone/>
            </a:pPr>
            <a:r>
              <a:rPr lang="en-US" sz="2600" b="1" dirty="0">
                <a:solidFill>
                  <a:srgbClr val="D97706"/>
                </a:solidFill>
                <a:latin typeface="Calibri Light" pitchFamily="34" charset="0"/>
                <a:ea typeface="Calibri Light" pitchFamily="34" charset="-122"/>
                <a:cs typeface="Calibri Light" pitchFamily="34" charset="-120"/>
              </a:rPr>
              <a:t>77.6%</a:t>
            </a:r>
            <a:endParaRPr lang="en-US" sz="2600" dirty="0"/>
          </a:p>
        </p:txBody>
      </p:sp>
      <p:sp>
        <p:nvSpPr>
          <p:cNvPr id="9" name="Text 7"/>
          <p:cNvSpPr/>
          <p:nvPr/>
        </p:nvSpPr>
        <p:spPr>
          <a:xfrm>
            <a:off x="502920" y="2304288"/>
            <a:ext cx="2331720" cy="274320"/>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Taux d'accord</a:t>
            </a:r>
            <a:endParaRPr lang="en-US" sz="900" dirty="0"/>
          </a:p>
        </p:txBody>
      </p:sp>
      <p:sp>
        <p:nvSpPr>
          <p:cNvPr id="10" name="Text 8"/>
          <p:cNvSpPr/>
          <p:nvPr/>
        </p:nvSpPr>
        <p:spPr>
          <a:xfrm>
            <a:off x="502920" y="2542032"/>
            <a:ext cx="2331720" cy="182880"/>
          </a:xfrm>
          <a:prstGeom prst="rect">
            <a:avLst/>
          </a:prstGeom>
          <a:noFill/>
          <a:ln/>
        </p:spPr>
        <p:txBody>
          <a:bodyPr wrap="square"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76 clients</a:t>
            </a:r>
            <a:endParaRPr lang="en-US" sz="850" dirty="0"/>
          </a:p>
        </p:txBody>
      </p:sp>
      <p:sp>
        <p:nvSpPr>
          <p:cNvPr id="11" name="Shape 9"/>
          <p:cNvSpPr/>
          <p:nvPr/>
        </p:nvSpPr>
        <p:spPr>
          <a:xfrm>
            <a:off x="3200400" y="1188720"/>
            <a:ext cx="2606040" cy="15544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2" name="Shape 10"/>
          <p:cNvSpPr/>
          <p:nvPr/>
        </p:nvSpPr>
        <p:spPr>
          <a:xfrm>
            <a:off x="3200400" y="1188720"/>
            <a:ext cx="2606040" cy="64008"/>
          </a:xfrm>
          <a:prstGeom prst="rect">
            <a:avLst/>
          </a:prstGeom>
          <a:solidFill>
            <a:srgbClr val="16A34A"/>
          </a:solidFill>
          <a:ln w="12700">
            <a:solidFill>
              <a:srgbClr val="16A34A"/>
            </a:solidFill>
            <a:prstDash val="solid"/>
          </a:ln>
        </p:spPr>
        <p:txBody>
          <a:bodyPr/>
          <a:lstStyle/>
          <a:p>
            <a:endParaRPr lang="fr-FR"/>
          </a:p>
        </p:txBody>
      </p:sp>
      <p:sp>
        <p:nvSpPr>
          <p:cNvPr id="13" name="Text 11"/>
          <p:cNvSpPr/>
          <p:nvPr/>
        </p:nvSpPr>
        <p:spPr>
          <a:xfrm>
            <a:off x="3337560" y="1298448"/>
            <a:ext cx="2331720" cy="502920"/>
          </a:xfrm>
          <a:prstGeom prst="rect">
            <a:avLst/>
          </a:prstGeom>
          <a:noFill/>
          <a:ln/>
        </p:spPr>
        <p:txBody>
          <a:bodyPr wrap="square"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Adultes</a:t>
            </a:r>
            <a:endParaRPr lang="en-US" sz="1100" dirty="0"/>
          </a:p>
          <a:p>
            <a:pPr marL="0" indent="0" algn="ctr">
              <a:buNone/>
            </a:pPr>
            <a:r>
              <a:rPr lang="en-US" sz="1100" b="1" dirty="0">
                <a:solidFill>
                  <a:srgbClr val="1E293B"/>
                </a:solidFill>
                <a:latin typeface="Calibri" pitchFamily="34" charset="0"/>
                <a:ea typeface="Calibri" pitchFamily="34" charset="-122"/>
                <a:cs typeface="Calibri" pitchFamily="34" charset="-120"/>
              </a:rPr>
              <a:t>30-50 ans</a:t>
            </a:r>
            <a:endParaRPr lang="en-US" sz="1100" dirty="0"/>
          </a:p>
        </p:txBody>
      </p:sp>
      <p:sp>
        <p:nvSpPr>
          <p:cNvPr id="14" name="Text 12"/>
          <p:cNvSpPr/>
          <p:nvPr/>
        </p:nvSpPr>
        <p:spPr>
          <a:xfrm>
            <a:off x="3337560" y="1828800"/>
            <a:ext cx="2331720" cy="502920"/>
          </a:xfrm>
          <a:prstGeom prst="rect">
            <a:avLst/>
          </a:prstGeom>
          <a:noFill/>
          <a:ln/>
        </p:spPr>
        <p:txBody>
          <a:bodyPr wrap="square" rtlCol="0" anchor="ctr"/>
          <a:lstStyle/>
          <a:p>
            <a:pPr marL="0" indent="0" algn="ctr">
              <a:buNone/>
            </a:pPr>
            <a:r>
              <a:rPr lang="en-US" sz="2600" b="1" dirty="0">
                <a:solidFill>
                  <a:srgbClr val="16A34A"/>
                </a:solidFill>
                <a:latin typeface="Calibri Light" pitchFamily="34" charset="0"/>
                <a:ea typeface="Calibri Light" pitchFamily="34" charset="-122"/>
                <a:cs typeface="Calibri Light" pitchFamily="34" charset="-120"/>
              </a:rPr>
              <a:t>82.8%</a:t>
            </a:r>
            <a:endParaRPr lang="en-US" sz="2600" dirty="0"/>
          </a:p>
        </p:txBody>
      </p:sp>
      <p:sp>
        <p:nvSpPr>
          <p:cNvPr id="15" name="Text 13"/>
          <p:cNvSpPr/>
          <p:nvPr/>
        </p:nvSpPr>
        <p:spPr>
          <a:xfrm>
            <a:off x="3337560" y="2304288"/>
            <a:ext cx="2331720" cy="274320"/>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Taux d'accord</a:t>
            </a:r>
            <a:endParaRPr lang="en-US" sz="900" dirty="0"/>
          </a:p>
        </p:txBody>
      </p:sp>
      <p:sp>
        <p:nvSpPr>
          <p:cNvPr id="16" name="Text 14"/>
          <p:cNvSpPr/>
          <p:nvPr/>
        </p:nvSpPr>
        <p:spPr>
          <a:xfrm>
            <a:off x="3337560" y="2542032"/>
            <a:ext cx="2331720" cy="182880"/>
          </a:xfrm>
          <a:prstGeom prst="rect">
            <a:avLst/>
          </a:prstGeom>
          <a:noFill/>
          <a:ln/>
        </p:spPr>
        <p:txBody>
          <a:bodyPr wrap="square"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99 clients</a:t>
            </a:r>
            <a:endParaRPr lang="en-US" sz="850" dirty="0"/>
          </a:p>
        </p:txBody>
      </p:sp>
      <p:sp>
        <p:nvSpPr>
          <p:cNvPr id="17" name="Shape 15"/>
          <p:cNvSpPr/>
          <p:nvPr/>
        </p:nvSpPr>
        <p:spPr>
          <a:xfrm>
            <a:off x="6035040" y="1188720"/>
            <a:ext cx="2606040" cy="15544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8" name="Shape 16"/>
          <p:cNvSpPr/>
          <p:nvPr/>
        </p:nvSpPr>
        <p:spPr>
          <a:xfrm>
            <a:off x="6035040" y="1188720"/>
            <a:ext cx="2606040" cy="64008"/>
          </a:xfrm>
          <a:prstGeom prst="rect">
            <a:avLst/>
          </a:prstGeom>
          <a:solidFill>
            <a:srgbClr val="1D4ED8"/>
          </a:solidFill>
          <a:ln w="12700">
            <a:solidFill>
              <a:srgbClr val="1D4ED8"/>
            </a:solidFill>
            <a:prstDash val="solid"/>
          </a:ln>
        </p:spPr>
        <p:txBody>
          <a:bodyPr/>
          <a:lstStyle/>
          <a:p>
            <a:endParaRPr lang="fr-FR"/>
          </a:p>
        </p:txBody>
      </p:sp>
      <p:sp>
        <p:nvSpPr>
          <p:cNvPr id="19" name="Text 17"/>
          <p:cNvSpPr/>
          <p:nvPr/>
        </p:nvSpPr>
        <p:spPr>
          <a:xfrm>
            <a:off x="6172200" y="1298448"/>
            <a:ext cx="2331720" cy="502920"/>
          </a:xfrm>
          <a:prstGeom prst="rect">
            <a:avLst/>
          </a:prstGeom>
          <a:noFill/>
          <a:ln/>
        </p:spPr>
        <p:txBody>
          <a:bodyPr wrap="square"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Seniors</a:t>
            </a:r>
            <a:endParaRPr lang="en-US" sz="1100" dirty="0"/>
          </a:p>
          <a:p>
            <a:pPr marL="0" indent="0" algn="ctr">
              <a:buNone/>
            </a:pPr>
            <a:r>
              <a:rPr lang="en-US" sz="1100" b="1" dirty="0">
                <a:solidFill>
                  <a:srgbClr val="1E293B"/>
                </a:solidFill>
                <a:latin typeface="Calibri" pitchFamily="34" charset="0"/>
                <a:ea typeface="Calibri" pitchFamily="34" charset="-122"/>
                <a:cs typeface="Calibri" pitchFamily="34" charset="-120"/>
              </a:rPr>
              <a:t>&gt; 50 ans</a:t>
            </a:r>
            <a:endParaRPr lang="en-US" sz="1100" dirty="0"/>
          </a:p>
        </p:txBody>
      </p:sp>
      <p:sp>
        <p:nvSpPr>
          <p:cNvPr id="20" name="Text 18"/>
          <p:cNvSpPr/>
          <p:nvPr/>
        </p:nvSpPr>
        <p:spPr>
          <a:xfrm>
            <a:off x="6172200" y="1828800"/>
            <a:ext cx="2331720" cy="502920"/>
          </a:xfrm>
          <a:prstGeom prst="rect">
            <a:avLst/>
          </a:prstGeom>
          <a:noFill/>
          <a:ln/>
        </p:spPr>
        <p:txBody>
          <a:bodyPr wrap="square" rtlCol="0" anchor="ctr"/>
          <a:lstStyle/>
          <a:p>
            <a:pPr marL="0" indent="0" algn="ctr">
              <a:buNone/>
            </a:pPr>
            <a:r>
              <a:rPr lang="en-US" sz="2600" b="1" dirty="0">
                <a:solidFill>
                  <a:srgbClr val="1D4ED8"/>
                </a:solidFill>
                <a:latin typeface="Calibri Light" pitchFamily="34" charset="0"/>
                <a:ea typeface="Calibri Light" pitchFamily="34" charset="-122"/>
                <a:cs typeface="Calibri Light" pitchFamily="34" charset="-120"/>
              </a:rPr>
              <a:t>84.0%</a:t>
            </a:r>
            <a:endParaRPr lang="en-US" sz="2600" dirty="0"/>
          </a:p>
        </p:txBody>
      </p:sp>
      <p:sp>
        <p:nvSpPr>
          <p:cNvPr id="21" name="Text 19"/>
          <p:cNvSpPr/>
          <p:nvPr/>
        </p:nvSpPr>
        <p:spPr>
          <a:xfrm>
            <a:off x="6172200" y="2304288"/>
            <a:ext cx="2331720" cy="274320"/>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Taux d'accord</a:t>
            </a:r>
            <a:endParaRPr lang="en-US" sz="900" dirty="0"/>
          </a:p>
        </p:txBody>
      </p:sp>
      <p:sp>
        <p:nvSpPr>
          <p:cNvPr id="22" name="Text 20"/>
          <p:cNvSpPr/>
          <p:nvPr/>
        </p:nvSpPr>
        <p:spPr>
          <a:xfrm>
            <a:off x="6172200" y="2542032"/>
            <a:ext cx="2331720" cy="182880"/>
          </a:xfrm>
          <a:prstGeom prst="rect">
            <a:avLst/>
          </a:prstGeom>
          <a:noFill/>
          <a:ln/>
        </p:spPr>
        <p:txBody>
          <a:bodyPr wrap="square" rtlCol="0" anchor="ctr"/>
          <a:lstStyle/>
          <a:p>
            <a:pPr marL="0" indent="0" algn="ctr">
              <a:buNone/>
            </a:pPr>
            <a:r>
              <a:rPr lang="en-US" sz="850" dirty="0">
                <a:solidFill>
                  <a:srgbClr val="94A3B8"/>
                </a:solidFill>
                <a:latin typeface="Calibri" pitchFamily="34" charset="0"/>
                <a:ea typeface="Calibri" pitchFamily="34" charset="-122"/>
                <a:cs typeface="Calibri" pitchFamily="34" charset="-120"/>
              </a:rPr>
              <a:t>25 clients</a:t>
            </a:r>
            <a:endParaRPr lang="en-US" sz="850" dirty="0"/>
          </a:p>
        </p:txBody>
      </p:sp>
      <p:sp>
        <p:nvSpPr>
          <p:cNvPr id="23" name="Shape 21"/>
          <p:cNvSpPr/>
          <p:nvPr/>
        </p:nvSpPr>
        <p:spPr>
          <a:xfrm>
            <a:off x="365760" y="2926080"/>
            <a:ext cx="4023360" cy="16916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24" name="Text 22"/>
          <p:cNvSpPr/>
          <p:nvPr/>
        </p:nvSpPr>
        <p:spPr>
          <a:xfrm>
            <a:off x="502920" y="3017520"/>
            <a:ext cx="3749040" cy="292608"/>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Demographic Parity Difference</a:t>
            </a:r>
            <a:endParaRPr lang="en-US" sz="1100" dirty="0"/>
          </a:p>
        </p:txBody>
      </p:sp>
      <p:sp>
        <p:nvSpPr>
          <p:cNvPr id="25" name="Text 23"/>
          <p:cNvSpPr/>
          <p:nvPr/>
        </p:nvSpPr>
        <p:spPr>
          <a:xfrm>
            <a:off x="502920" y="3319272"/>
            <a:ext cx="2560320" cy="365760"/>
          </a:xfrm>
          <a:prstGeom prst="rect">
            <a:avLst/>
          </a:prstGeom>
          <a:noFill/>
          <a:ln/>
        </p:spPr>
        <p:txBody>
          <a:bodyPr wrap="square" rtlCol="0" anchor="ctr"/>
          <a:lstStyle/>
          <a:p>
            <a:pPr marL="0" indent="0">
              <a:buNone/>
            </a:pPr>
            <a:r>
              <a:rPr lang="en-US" sz="2200" b="1" dirty="0">
                <a:solidFill>
                  <a:srgbClr val="16A34A"/>
                </a:solidFill>
                <a:latin typeface="Calibri Light" pitchFamily="34" charset="0"/>
                <a:ea typeface="Calibri Light" pitchFamily="34" charset="-122"/>
                <a:cs typeface="Calibri Light" pitchFamily="34" charset="-120"/>
              </a:rPr>
              <a:t>0.0637  —  Acceptable</a:t>
            </a:r>
            <a:endParaRPr lang="en-US" sz="2200" dirty="0"/>
          </a:p>
        </p:txBody>
      </p:sp>
      <p:sp>
        <p:nvSpPr>
          <p:cNvPr id="26" name="Text 24"/>
          <p:cNvSpPr/>
          <p:nvPr/>
        </p:nvSpPr>
        <p:spPr>
          <a:xfrm>
            <a:off x="502920" y="3730752"/>
            <a:ext cx="3749040" cy="731520"/>
          </a:xfrm>
          <a:prstGeom prst="rect">
            <a:avLst/>
          </a:prstGeom>
          <a:noFill/>
          <a:ln/>
        </p:spPr>
        <p:txBody>
          <a:bodyPr wrap="square" rtlCol="0" anchor="ctr"/>
          <a:lstStyle/>
          <a:p>
            <a:pPr marL="0" indent="0">
              <a:buNone/>
            </a:pPr>
            <a:r>
              <a:rPr lang="en-US" sz="1000" dirty="0">
                <a:solidFill>
                  <a:srgbClr val="374151"/>
                </a:solidFill>
                <a:latin typeface="Calibri" pitchFamily="34" charset="0"/>
                <a:ea typeface="Calibri" pitchFamily="34" charset="-122"/>
                <a:cs typeface="Calibri" pitchFamily="34" charset="-120"/>
              </a:rPr>
              <a:t>Seuil d'alerte : 0.10</a:t>
            </a:r>
            <a:endParaRPr lang="en-US" sz="1000" dirty="0"/>
          </a:p>
          <a:p>
            <a:pPr marL="0" indent="0">
              <a:buNone/>
            </a:pPr>
            <a:r>
              <a:rPr lang="en-US" sz="1000" dirty="0">
                <a:solidFill>
                  <a:srgbClr val="374151"/>
                </a:solidFill>
                <a:latin typeface="Calibri" pitchFamily="34" charset="0"/>
                <a:ea typeface="Calibri" pitchFamily="34" charset="-122"/>
                <a:cs typeface="Calibri" pitchFamily="34" charset="-120"/>
              </a:rPr>
              <a:t>Le taux d'accord est similaire entre groupes.</a:t>
            </a:r>
            <a:endParaRPr lang="en-US" sz="1000" dirty="0"/>
          </a:p>
        </p:txBody>
      </p:sp>
      <p:sp>
        <p:nvSpPr>
          <p:cNvPr id="27" name="Shape 25"/>
          <p:cNvSpPr/>
          <p:nvPr/>
        </p:nvSpPr>
        <p:spPr>
          <a:xfrm>
            <a:off x="4709160" y="2926080"/>
            <a:ext cx="4069080" cy="16916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28" name="Text 26"/>
          <p:cNvSpPr/>
          <p:nvPr/>
        </p:nvSpPr>
        <p:spPr>
          <a:xfrm>
            <a:off x="4846320" y="3017520"/>
            <a:ext cx="3749040" cy="292608"/>
          </a:xfrm>
          <a:prstGeom prst="rect">
            <a:avLst/>
          </a:prstGeom>
          <a:noFill/>
          <a:ln/>
        </p:spPr>
        <p:txBody>
          <a:bodyPr wrap="square" rtlCol="0" anchor="ctr"/>
          <a:lstStyle/>
          <a:p>
            <a:pPr marL="0" indent="0">
              <a:buNone/>
            </a:pPr>
            <a:r>
              <a:rPr lang="en-US" sz="1100" b="1" dirty="0">
                <a:solidFill>
                  <a:srgbClr val="1E293B"/>
                </a:solidFill>
                <a:latin typeface="Calibri" pitchFamily="34" charset="0"/>
                <a:ea typeface="Calibri" pitchFamily="34" charset="-122"/>
                <a:cs typeface="Calibri" pitchFamily="34" charset="-120"/>
              </a:rPr>
              <a:t>Equalized Odds Difference</a:t>
            </a:r>
            <a:endParaRPr lang="en-US" sz="1100" dirty="0"/>
          </a:p>
        </p:txBody>
      </p:sp>
      <p:sp>
        <p:nvSpPr>
          <p:cNvPr id="29" name="Text 27"/>
          <p:cNvSpPr/>
          <p:nvPr/>
        </p:nvSpPr>
        <p:spPr>
          <a:xfrm>
            <a:off x="4846320" y="3319272"/>
            <a:ext cx="3200400" cy="365760"/>
          </a:xfrm>
          <a:prstGeom prst="rect">
            <a:avLst/>
          </a:prstGeom>
          <a:noFill/>
          <a:ln/>
        </p:spPr>
        <p:txBody>
          <a:bodyPr wrap="square" rtlCol="0" anchor="ctr"/>
          <a:lstStyle/>
          <a:p>
            <a:pPr marL="0" indent="0">
              <a:buNone/>
            </a:pPr>
            <a:r>
              <a:rPr lang="en-US" sz="2200" b="1" dirty="0">
                <a:solidFill>
                  <a:srgbClr val="D97706"/>
                </a:solidFill>
                <a:latin typeface="Calibri Light" pitchFamily="34" charset="0"/>
                <a:ea typeface="Calibri Light" pitchFamily="34" charset="-122"/>
                <a:cs typeface="Calibri Light" pitchFamily="34" charset="-120"/>
              </a:rPr>
              <a:t>0.1067  —  A surveiller</a:t>
            </a:r>
            <a:endParaRPr lang="en-US" sz="2200" dirty="0"/>
          </a:p>
        </p:txBody>
      </p:sp>
      <p:sp>
        <p:nvSpPr>
          <p:cNvPr id="30" name="Text 28"/>
          <p:cNvSpPr/>
          <p:nvPr/>
        </p:nvSpPr>
        <p:spPr>
          <a:xfrm>
            <a:off x="4846320" y="3730752"/>
            <a:ext cx="3749040" cy="731520"/>
          </a:xfrm>
          <a:prstGeom prst="rect">
            <a:avLst/>
          </a:prstGeom>
          <a:noFill/>
          <a:ln/>
        </p:spPr>
        <p:txBody>
          <a:bodyPr wrap="square" rtlCol="0" anchor="ctr"/>
          <a:lstStyle/>
          <a:p>
            <a:pPr marL="0" indent="0">
              <a:buNone/>
            </a:pPr>
            <a:r>
              <a:rPr lang="en-US" sz="1000" dirty="0">
                <a:solidFill>
                  <a:srgbClr val="374151"/>
                </a:solidFill>
                <a:latin typeface="Calibri" pitchFamily="34" charset="0"/>
                <a:ea typeface="Calibri" pitchFamily="34" charset="-122"/>
                <a:cs typeface="Calibri" pitchFamily="34" charset="-120"/>
              </a:rPr>
              <a:t>Légèrement au-dessus du seuil.</a:t>
            </a:r>
            <a:endParaRPr lang="en-US" sz="1000" dirty="0"/>
          </a:p>
          <a:p>
            <a:pPr marL="0" indent="0">
              <a:buNone/>
            </a:pPr>
            <a:r>
              <a:rPr lang="en-US" sz="1000" dirty="0">
                <a:solidFill>
                  <a:srgbClr val="374151"/>
                </a:solidFill>
                <a:latin typeface="Calibri" pitchFamily="34" charset="0"/>
                <a:ea typeface="Calibri" pitchFamily="34" charset="-122"/>
                <a:cs typeface="Calibri" pitchFamily="34" charset="-120"/>
              </a:rPr>
              <a:t>Le modèle sous-estime les bons clients jeunes — biais à corriger avant déploiement.</a:t>
            </a:r>
            <a:endParaRPr lang="en-US" sz="1000" dirty="0"/>
          </a:p>
        </p:txBody>
      </p:sp>
      <p:sp>
        <p:nvSpPr>
          <p:cNvPr id="31" name="Shape 29"/>
          <p:cNvSpPr/>
          <p:nvPr/>
        </p:nvSpPr>
        <p:spPr>
          <a:xfrm>
            <a:off x="0" y="4892040"/>
            <a:ext cx="9144000" cy="251460"/>
          </a:xfrm>
          <a:prstGeom prst="rect">
            <a:avLst/>
          </a:prstGeom>
          <a:solidFill>
            <a:srgbClr val="0A1A30"/>
          </a:solidFill>
          <a:ln w="12700">
            <a:solidFill>
              <a:srgbClr val="0A1A30"/>
            </a:solidFill>
            <a:prstDash val="solid"/>
          </a:ln>
        </p:spPr>
        <p:txBody>
          <a:bodyPr/>
          <a:lstStyle/>
          <a:p>
            <a:endParaRPr lang="fr-FR"/>
          </a:p>
        </p:txBody>
      </p:sp>
      <p:sp>
        <p:nvSpPr>
          <p:cNvPr id="32" name="Text 30"/>
          <p:cNvSpPr/>
          <p:nvPr/>
        </p:nvSpPr>
        <p:spPr>
          <a:xfrm>
            <a:off x="320040" y="4901184"/>
            <a:ext cx="6400800" cy="22860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Robin Lamy  ·  ECE Paris ING4 Finance IA  ·  2026</a:t>
            </a:r>
            <a:endParaRPr lang="en-US" sz="800" dirty="0"/>
          </a:p>
        </p:txBody>
      </p:sp>
      <p:sp>
        <p:nvSpPr>
          <p:cNvPr id="33" name="Text 31"/>
          <p:cNvSpPr/>
          <p:nvPr/>
        </p:nvSpPr>
        <p:spPr>
          <a:xfrm>
            <a:off x="8229600" y="4901184"/>
            <a:ext cx="640080" cy="22860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8 / 12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201168"/>
            <a:ext cx="54864" cy="292608"/>
          </a:xfrm>
          <a:prstGeom prst="rect">
            <a:avLst/>
          </a:prstGeom>
          <a:solidFill>
            <a:srgbClr val="1D4ED8"/>
          </a:solidFill>
          <a:ln w="12700">
            <a:solidFill>
              <a:srgbClr val="1D4ED8"/>
            </a:solidFill>
            <a:prstDash val="solid"/>
          </a:ln>
        </p:spPr>
        <p:txBody>
          <a:bodyPr/>
          <a:lstStyle/>
          <a:p>
            <a:endParaRPr lang="fr-FR"/>
          </a:p>
        </p:txBody>
      </p:sp>
      <p:sp>
        <p:nvSpPr>
          <p:cNvPr id="3" name="Text 1"/>
          <p:cNvSpPr/>
          <p:nvPr/>
        </p:nvSpPr>
        <p:spPr>
          <a:xfrm>
            <a:off x="502920" y="201168"/>
            <a:ext cx="3657600" cy="292608"/>
          </a:xfrm>
          <a:prstGeom prst="rect">
            <a:avLst/>
          </a:prstGeom>
          <a:noFill/>
          <a:ln/>
        </p:spPr>
        <p:txBody>
          <a:bodyPr wrap="square" lIns="0" tIns="0" rIns="0" bIns="0" rtlCol="0" anchor="ctr"/>
          <a:lstStyle/>
          <a:p>
            <a:pPr marL="0" indent="0">
              <a:buNone/>
            </a:pPr>
            <a:r>
              <a:rPr lang="en-US" sz="900" b="1" kern="0" spc="200" dirty="0">
                <a:solidFill>
                  <a:srgbClr val="1D4ED8"/>
                </a:solidFill>
                <a:latin typeface="Calibri" pitchFamily="34" charset="0"/>
                <a:ea typeface="Calibri" pitchFamily="34" charset="-122"/>
                <a:cs typeface="Calibri" pitchFamily="34" charset="-120"/>
              </a:rPr>
              <a:t>06 — DASHBOARD</a:t>
            </a:r>
            <a:endParaRPr lang="en-US" sz="900" dirty="0"/>
          </a:p>
        </p:txBody>
      </p:sp>
      <p:sp>
        <p:nvSpPr>
          <p:cNvPr id="4" name="Text 2"/>
          <p:cNvSpPr/>
          <p:nvPr/>
        </p:nvSpPr>
        <p:spPr>
          <a:xfrm>
            <a:off x="365760" y="548640"/>
            <a:ext cx="8412480" cy="502920"/>
          </a:xfrm>
          <a:prstGeom prst="rect">
            <a:avLst/>
          </a:prstGeom>
          <a:noFill/>
          <a:ln/>
        </p:spPr>
        <p:txBody>
          <a:bodyPr wrap="square" rtlCol="0" anchor="ctr"/>
          <a:lstStyle/>
          <a:p>
            <a:pPr marL="0" indent="0">
              <a:buNone/>
            </a:pPr>
            <a:r>
              <a:rPr lang="en-US" sz="2600" b="1" dirty="0">
                <a:solidFill>
                  <a:srgbClr val="1E293B"/>
                </a:solidFill>
                <a:latin typeface="Calibri Light" pitchFamily="34" charset="0"/>
                <a:ea typeface="Calibri Light" pitchFamily="34" charset="-122"/>
                <a:cs typeface="Calibri Light" pitchFamily="34" charset="-120"/>
              </a:rPr>
              <a:t>Dashboard Gradio interactif</a:t>
            </a:r>
            <a:endParaRPr lang="en-US" sz="2600" dirty="0"/>
          </a:p>
        </p:txBody>
      </p:sp>
      <p:sp>
        <p:nvSpPr>
          <p:cNvPr id="5" name="Shape 3"/>
          <p:cNvSpPr/>
          <p:nvPr/>
        </p:nvSpPr>
        <p:spPr>
          <a:xfrm>
            <a:off x="365760" y="1188720"/>
            <a:ext cx="4114800" cy="8686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6" name="Shape 4"/>
          <p:cNvSpPr/>
          <p:nvPr/>
        </p:nvSpPr>
        <p:spPr>
          <a:xfrm>
            <a:off x="365760" y="1188720"/>
            <a:ext cx="64008" cy="868680"/>
          </a:xfrm>
          <a:prstGeom prst="rect">
            <a:avLst/>
          </a:prstGeom>
          <a:solidFill>
            <a:srgbClr val="1D4ED8"/>
          </a:solidFill>
          <a:ln w="12700">
            <a:solidFill>
              <a:srgbClr val="1D4ED8"/>
            </a:solidFill>
            <a:prstDash val="solid"/>
          </a:ln>
        </p:spPr>
        <p:txBody>
          <a:bodyPr/>
          <a:lstStyle/>
          <a:p>
            <a:endParaRPr lang="fr-FR"/>
          </a:p>
        </p:txBody>
      </p:sp>
      <p:sp>
        <p:nvSpPr>
          <p:cNvPr id="7" name="Text 5"/>
          <p:cNvSpPr/>
          <p:nvPr/>
        </p:nvSpPr>
        <p:spPr>
          <a:xfrm>
            <a:off x="548640" y="1280160"/>
            <a:ext cx="3794760" cy="292608"/>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Saisie complète</a:t>
            </a:r>
            <a:endParaRPr lang="en-US" sz="1200" dirty="0"/>
          </a:p>
        </p:txBody>
      </p:sp>
      <p:sp>
        <p:nvSpPr>
          <p:cNvPr id="8" name="Text 6"/>
          <p:cNvSpPr/>
          <p:nvPr/>
        </p:nvSpPr>
        <p:spPr>
          <a:xfrm>
            <a:off x="548640" y="1600200"/>
            <a:ext cx="3794760" cy="38404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20 variables en français, sans aucun signe mathématique — options naturelles et lisibles</a:t>
            </a:r>
            <a:endParaRPr lang="en-US" sz="950" dirty="0"/>
          </a:p>
        </p:txBody>
      </p:sp>
      <p:sp>
        <p:nvSpPr>
          <p:cNvPr id="9" name="Shape 7"/>
          <p:cNvSpPr/>
          <p:nvPr/>
        </p:nvSpPr>
        <p:spPr>
          <a:xfrm>
            <a:off x="365760" y="2194560"/>
            <a:ext cx="4114800" cy="8686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0" name="Shape 8"/>
          <p:cNvSpPr/>
          <p:nvPr/>
        </p:nvSpPr>
        <p:spPr>
          <a:xfrm>
            <a:off x="365760" y="2194560"/>
            <a:ext cx="64008" cy="868680"/>
          </a:xfrm>
          <a:prstGeom prst="rect">
            <a:avLst/>
          </a:prstGeom>
          <a:solidFill>
            <a:srgbClr val="1D4ED8"/>
          </a:solidFill>
          <a:ln w="12700">
            <a:solidFill>
              <a:srgbClr val="1D4ED8"/>
            </a:solidFill>
            <a:prstDash val="solid"/>
          </a:ln>
        </p:spPr>
        <p:txBody>
          <a:bodyPr/>
          <a:lstStyle/>
          <a:p>
            <a:endParaRPr lang="fr-FR"/>
          </a:p>
        </p:txBody>
      </p:sp>
      <p:sp>
        <p:nvSpPr>
          <p:cNvPr id="11" name="Text 9"/>
          <p:cNvSpPr/>
          <p:nvPr/>
        </p:nvSpPr>
        <p:spPr>
          <a:xfrm>
            <a:off x="548640" y="2286000"/>
            <a:ext cx="3794760" cy="292608"/>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Décision immédiate</a:t>
            </a:r>
            <a:endParaRPr lang="en-US" sz="1200" dirty="0"/>
          </a:p>
        </p:txBody>
      </p:sp>
      <p:sp>
        <p:nvSpPr>
          <p:cNvPr id="12" name="Text 10"/>
          <p:cNvSpPr/>
          <p:nvPr/>
        </p:nvSpPr>
        <p:spPr>
          <a:xfrm>
            <a:off x="548640" y="2606040"/>
            <a:ext cx="3794760" cy="38404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Probabilité d'accord avec bandeau vert (accordé) ou rouge (refusé)</a:t>
            </a:r>
            <a:endParaRPr lang="en-US" sz="950" dirty="0"/>
          </a:p>
        </p:txBody>
      </p:sp>
      <p:sp>
        <p:nvSpPr>
          <p:cNvPr id="13" name="Shape 11"/>
          <p:cNvSpPr/>
          <p:nvPr/>
        </p:nvSpPr>
        <p:spPr>
          <a:xfrm>
            <a:off x="365760" y="3200400"/>
            <a:ext cx="4114800" cy="8686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4" name="Shape 12"/>
          <p:cNvSpPr/>
          <p:nvPr/>
        </p:nvSpPr>
        <p:spPr>
          <a:xfrm>
            <a:off x="365760" y="3200400"/>
            <a:ext cx="64008" cy="868680"/>
          </a:xfrm>
          <a:prstGeom prst="rect">
            <a:avLst/>
          </a:prstGeom>
          <a:solidFill>
            <a:srgbClr val="1D4ED8"/>
          </a:solidFill>
          <a:ln w="12700">
            <a:solidFill>
              <a:srgbClr val="1D4ED8"/>
            </a:solidFill>
            <a:prstDash val="solid"/>
          </a:ln>
        </p:spPr>
        <p:txBody>
          <a:bodyPr/>
          <a:lstStyle/>
          <a:p>
            <a:endParaRPr lang="fr-FR"/>
          </a:p>
        </p:txBody>
      </p:sp>
      <p:sp>
        <p:nvSpPr>
          <p:cNvPr id="15" name="Text 13"/>
          <p:cNvSpPr/>
          <p:nvPr/>
        </p:nvSpPr>
        <p:spPr>
          <a:xfrm>
            <a:off x="548640" y="3291840"/>
            <a:ext cx="3794760" cy="292608"/>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Graphique SHAP</a:t>
            </a:r>
            <a:endParaRPr lang="en-US" sz="1200" dirty="0"/>
          </a:p>
        </p:txBody>
      </p:sp>
      <p:sp>
        <p:nvSpPr>
          <p:cNvPr id="16" name="Text 14"/>
          <p:cNvSpPr/>
          <p:nvPr/>
        </p:nvSpPr>
        <p:spPr>
          <a:xfrm>
            <a:off x="548640" y="3611880"/>
            <a:ext cx="3794760" cy="38404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Top 12 variables regroupées — contribution de chaque variable à la décision</a:t>
            </a:r>
            <a:endParaRPr lang="en-US" sz="950" dirty="0"/>
          </a:p>
        </p:txBody>
      </p:sp>
      <p:sp>
        <p:nvSpPr>
          <p:cNvPr id="17" name="Shape 15"/>
          <p:cNvSpPr/>
          <p:nvPr/>
        </p:nvSpPr>
        <p:spPr>
          <a:xfrm>
            <a:off x="4709160" y="1188720"/>
            <a:ext cx="4114800" cy="8686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8" name="Shape 16"/>
          <p:cNvSpPr/>
          <p:nvPr/>
        </p:nvSpPr>
        <p:spPr>
          <a:xfrm>
            <a:off x="4709160" y="1188720"/>
            <a:ext cx="64008" cy="868680"/>
          </a:xfrm>
          <a:prstGeom prst="rect">
            <a:avLst/>
          </a:prstGeom>
          <a:solidFill>
            <a:srgbClr val="1D4ED8"/>
          </a:solidFill>
          <a:ln w="12700">
            <a:solidFill>
              <a:srgbClr val="1D4ED8"/>
            </a:solidFill>
            <a:prstDash val="solid"/>
          </a:ln>
        </p:spPr>
        <p:txBody>
          <a:bodyPr/>
          <a:lstStyle/>
          <a:p>
            <a:endParaRPr lang="fr-FR"/>
          </a:p>
        </p:txBody>
      </p:sp>
      <p:sp>
        <p:nvSpPr>
          <p:cNvPr id="19" name="Text 17"/>
          <p:cNvSpPr/>
          <p:nvPr/>
        </p:nvSpPr>
        <p:spPr>
          <a:xfrm>
            <a:off x="4892040" y="1280160"/>
            <a:ext cx="3794760" cy="292608"/>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Graphique LIME</a:t>
            </a:r>
            <a:endParaRPr lang="en-US" sz="1200" dirty="0"/>
          </a:p>
        </p:txBody>
      </p:sp>
      <p:sp>
        <p:nvSpPr>
          <p:cNvPr id="20" name="Text 18"/>
          <p:cNvSpPr/>
          <p:nvPr/>
        </p:nvSpPr>
        <p:spPr>
          <a:xfrm>
            <a:off x="4892040" y="1600200"/>
            <a:ext cx="3794760" cy="38404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Approximation locale — facteurs clés identifiés autour du profil analysé</a:t>
            </a:r>
            <a:endParaRPr lang="en-US" sz="950" dirty="0"/>
          </a:p>
        </p:txBody>
      </p:sp>
      <p:sp>
        <p:nvSpPr>
          <p:cNvPr id="21" name="Shape 19"/>
          <p:cNvSpPr/>
          <p:nvPr/>
        </p:nvSpPr>
        <p:spPr>
          <a:xfrm>
            <a:off x="4709160" y="2194560"/>
            <a:ext cx="4114800" cy="86868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22" name="Shape 20"/>
          <p:cNvSpPr/>
          <p:nvPr/>
        </p:nvSpPr>
        <p:spPr>
          <a:xfrm>
            <a:off x="4709160" y="2194560"/>
            <a:ext cx="64008" cy="868680"/>
          </a:xfrm>
          <a:prstGeom prst="rect">
            <a:avLst/>
          </a:prstGeom>
          <a:solidFill>
            <a:srgbClr val="1D4ED8"/>
          </a:solidFill>
          <a:ln w="12700">
            <a:solidFill>
              <a:srgbClr val="1D4ED8"/>
            </a:solidFill>
            <a:prstDash val="solid"/>
          </a:ln>
        </p:spPr>
        <p:txBody>
          <a:bodyPr/>
          <a:lstStyle/>
          <a:p>
            <a:endParaRPr lang="fr-FR"/>
          </a:p>
        </p:txBody>
      </p:sp>
      <p:sp>
        <p:nvSpPr>
          <p:cNvPr id="23" name="Text 21"/>
          <p:cNvSpPr/>
          <p:nvPr/>
        </p:nvSpPr>
        <p:spPr>
          <a:xfrm>
            <a:off x="4892040" y="2286000"/>
            <a:ext cx="3794760" cy="292608"/>
          </a:xfrm>
          <a:prstGeom prst="rect">
            <a:avLst/>
          </a:prstGeom>
          <a:noFill/>
          <a:ln/>
        </p:spPr>
        <p:txBody>
          <a:bodyPr wrap="square"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Recommandation</a:t>
            </a:r>
            <a:endParaRPr lang="en-US" sz="1200" dirty="0"/>
          </a:p>
        </p:txBody>
      </p:sp>
      <p:sp>
        <p:nvSpPr>
          <p:cNvPr id="24" name="Text 22"/>
          <p:cNvSpPr/>
          <p:nvPr/>
        </p:nvSpPr>
        <p:spPr>
          <a:xfrm>
            <a:off x="4892040" y="2606040"/>
            <a:ext cx="3794760" cy="384048"/>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Conseil actionnable : que modifier pour améliorer les chances d'acceptation</a:t>
            </a:r>
            <a:endParaRPr lang="en-US" sz="950" dirty="0"/>
          </a:p>
        </p:txBody>
      </p:sp>
      <p:sp>
        <p:nvSpPr>
          <p:cNvPr id="25" name="Shape 23"/>
          <p:cNvSpPr/>
          <p:nvPr/>
        </p:nvSpPr>
        <p:spPr>
          <a:xfrm>
            <a:off x="365760" y="4315968"/>
            <a:ext cx="8412480" cy="530352"/>
          </a:xfrm>
          <a:prstGeom prst="rect">
            <a:avLst/>
          </a:prstGeom>
          <a:solidFill>
            <a:srgbClr val="EFF6FF"/>
          </a:solidFill>
          <a:ln w="12700">
            <a:solidFill>
              <a:srgbClr val="BFDBFE"/>
            </a:solidFill>
            <a:prstDash val="solid"/>
          </a:ln>
        </p:spPr>
        <p:txBody>
          <a:bodyPr/>
          <a:lstStyle/>
          <a:p>
            <a:endParaRPr lang="fr-FR"/>
          </a:p>
        </p:txBody>
      </p:sp>
      <p:sp>
        <p:nvSpPr>
          <p:cNvPr id="26" name="Text 24"/>
          <p:cNvSpPr/>
          <p:nvPr/>
        </p:nvSpPr>
        <p:spPr>
          <a:xfrm>
            <a:off x="548640" y="4389120"/>
            <a:ext cx="8229600" cy="310896"/>
          </a:xfrm>
          <a:prstGeom prst="rect">
            <a:avLst/>
          </a:prstGeom>
          <a:noFill/>
          <a:ln/>
        </p:spPr>
        <p:txBody>
          <a:bodyPr wrap="square" rtlCol="0" anchor="ctr"/>
          <a:lstStyle/>
          <a:p>
            <a:pPr marL="0" indent="0">
              <a:buNone/>
            </a:pPr>
            <a:r>
              <a:rPr lang="en-US" sz="1100" b="1" dirty="0">
                <a:solidFill>
                  <a:srgbClr val="1D4ED8"/>
                </a:solidFill>
                <a:latin typeface="Consolas" pitchFamily="34" charset="0"/>
                <a:ea typeface="Consolas" pitchFamily="34" charset="-122"/>
                <a:cs typeface="Consolas" pitchFamily="34" charset="-120"/>
              </a:rPr>
              <a:t>Lancement :  python src/dashboard.py  →  http://localhost:7860</a:t>
            </a:r>
            <a:endParaRPr lang="en-US" sz="1100" dirty="0"/>
          </a:p>
        </p:txBody>
      </p:sp>
      <p:sp>
        <p:nvSpPr>
          <p:cNvPr id="27" name="Shape 25"/>
          <p:cNvSpPr/>
          <p:nvPr/>
        </p:nvSpPr>
        <p:spPr>
          <a:xfrm>
            <a:off x="0" y="4892040"/>
            <a:ext cx="9144000" cy="251460"/>
          </a:xfrm>
          <a:prstGeom prst="rect">
            <a:avLst/>
          </a:prstGeom>
          <a:solidFill>
            <a:srgbClr val="0A1A30"/>
          </a:solidFill>
          <a:ln w="12700">
            <a:solidFill>
              <a:srgbClr val="0A1A30"/>
            </a:solidFill>
            <a:prstDash val="solid"/>
          </a:ln>
        </p:spPr>
        <p:txBody>
          <a:bodyPr/>
          <a:lstStyle/>
          <a:p>
            <a:endParaRPr lang="fr-FR"/>
          </a:p>
        </p:txBody>
      </p:sp>
      <p:sp>
        <p:nvSpPr>
          <p:cNvPr id="28" name="Text 26"/>
          <p:cNvSpPr/>
          <p:nvPr/>
        </p:nvSpPr>
        <p:spPr>
          <a:xfrm>
            <a:off x="320040" y="4901184"/>
            <a:ext cx="6400800" cy="22860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Robin Lamy  ·  ECE Paris ING4 Finance IA  ·  2026</a:t>
            </a:r>
            <a:endParaRPr lang="en-US" sz="800" dirty="0"/>
          </a:p>
        </p:txBody>
      </p:sp>
      <p:sp>
        <p:nvSpPr>
          <p:cNvPr id="29" name="Text 27"/>
          <p:cNvSpPr/>
          <p:nvPr/>
        </p:nvSpPr>
        <p:spPr>
          <a:xfrm>
            <a:off x="8229600" y="4901184"/>
            <a:ext cx="640080" cy="22860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9 / 12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201168"/>
            <a:ext cx="54864" cy="292608"/>
          </a:xfrm>
          <a:prstGeom prst="rect">
            <a:avLst/>
          </a:prstGeom>
          <a:solidFill>
            <a:srgbClr val="1D4ED8"/>
          </a:solidFill>
          <a:ln w="12700">
            <a:solidFill>
              <a:srgbClr val="1D4ED8"/>
            </a:solidFill>
            <a:prstDash val="solid"/>
          </a:ln>
        </p:spPr>
        <p:txBody>
          <a:bodyPr/>
          <a:lstStyle/>
          <a:p>
            <a:endParaRPr lang="fr-FR"/>
          </a:p>
        </p:txBody>
      </p:sp>
      <p:sp>
        <p:nvSpPr>
          <p:cNvPr id="3" name="Text 1"/>
          <p:cNvSpPr/>
          <p:nvPr/>
        </p:nvSpPr>
        <p:spPr>
          <a:xfrm>
            <a:off x="502920" y="201168"/>
            <a:ext cx="3657600" cy="292608"/>
          </a:xfrm>
          <a:prstGeom prst="rect">
            <a:avLst/>
          </a:prstGeom>
          <a:noFill/>
          <a:ln/>
        </p:spPr>
        <p:txBody>
          <a:bodyPr wrap="square" lIns="0" tIns="0" rIns="0" bIns="0" rtlCol="0" anchor="ctr"/>
          <a:lstStyle/>
          <a:p>
            <a:pPr marL="0" indent="0">
              <a:buNone/>
            </a:pPr>
            <a:r>
              <a:rPr lang="en-US" sz="900" b="1" kern="0" spc="200" dirty="0">
                <a:solidFill>
                  <a:srgbClr val="1D4ED8"/>
                </a:solidFill>
                <a:latin typeface="Calibri" pitchFamily="34" charset="0"/>
                <a:ea typeface="Calibri" pitchFamily="34" charset="-122"/>
                <a:cs typeface="Calibri" pitchFamily="34" charset="-120"/>
              </a:rPr>
              <a:t>06 — ARCHITECTURE</a:t>
            </a:r>
            <a:endParaRPr lang="en-US" sz="900" dirty="0"/>
          </a:p>
        </p:txBody>
      </p:sp>
      <p:sp>
        <p:nvSpPr>
          <p:cNvPr id="4" name="Text 2"/>
          <p:cNvSpPr/>
          <p:nvPr/>
        </p:nvSpPr>
        <p:spPr>
          <a:xfrm>
            <a:off x="365760" y="548640"/>
            <a:ext cx="8412480" cy="502920"/>
          </a:xfrm>
          <a:prstGeom prst="rect">
            <a:avLst/>
          </a:prstGeom>
          <a:noFill/>
          <a:ln/>
        </p:spPr>
        <p:txBody>
          <a:bodyPr wrap="square" rtlCol="0" anchor="ctr"/>
          <a:lstStyle/>
          <a:p>
            <a:pPr marL="0" indent="0">
              <a:buNone/>
            </a:pPr>
            <a:r>
              <a:rPr lang="en-US" sz="2600" b="1" dirty="0">
                <a:solidFill>
                  <a:srgbClr val="1E293B"/>
                </a:solidFill>
                <a:latin typeface="Calibri Light" pitchFamily="34" charset="0"/>
                <a:ea typeface="Calibri Light" pitchFamily="34" charset="-122"/>
                <a:cs typeface="Calibri Light" pitchFamily="34" charset="-120"/>
              </a:rPr>
              <a:t>Structure du projet</a:t>
            </a:r>
            <a:endParaRPr lang="en-US" sz="2600" dirty="0"/>
          </a:p>
        </p:txBody>
      </p:sp>
      <p:sp>
        <p:nvSpPr>
          <p:cNvPr id="5" name="Shape 3"/>
          <p:cNvSpPr/>
          <p:nvPr/>
        </p:nvSpPr>
        <p:spPr>
          <a:xfrm>
            <a:off x="365760" y="1188720"/>
            <a:ext cx="4114800" cy="74980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6" name="Shape 4"/>
          <p:cNvSpPr/>
          <p:nvPr/>
        </p:nvSpPr>
        <p:spPr>
          <a:xfrm>
            <a:off x="365760" y="1188720"/>
            <a:ext cx="64008" cy="749808"/>
          </a:xfrm>
          <a:prstGeom prst="rect">
            <a:avLst/>
          </a:prstGeom>
          <a:solidFill>
            <a:srgbClr val="1D4ED8"/>
          </a:solidFill>
          <a:ln w="12700">
            <a:solidFill>
              <a:srgbClr val="1D4ED8"/>
            </a:solidFill>
            <a:prstDash val="solid"/>
          </a:ln>
        </p:spPr>
        <p:txBody>
          <a:bodyPr/>
          <a:lstStyle/>
          <a:p>
            <a:endParaRPr lang="fr-FR"/>
          </a:p>
        </p:txBody>
      </p:sp>
      <p:sp>
        <p:nvSpPr>
          <p:cNvPr id="7" name="Text 5"/>
          <p:cNvSpPr/>
          <p:nvPr/>
        </p:nvSpPr>
        <p:spPr>
          <a:xfrm>
            <a:off x="548640" y="1280160"/>
            <a:ext cx="3840480" cy="292608"/>
          </a:xfrm>
          <a:prstGeom prst="rect">
            <a:avLst/>
          </a:prstGeom>
          <a:noFill/>
          <a:ln/>
        </p:spPr>
        <p:txBody>
          <a:bodyPr wrap="square" rtlCol="0" anchor="ctr"/>
          <a:lstStyle/>
          <a:p>
            <a:pPr marL="0" indent="0">
              <a:buNone/>
            </a:pPr>
            <a:r>
              <a:rPr lang="en-US" sz="1200" b="1" dirty="0">
                <a:solidFill>
                  <a:srgbClr val="1D4ED8"/>
                </a:solidFill>
                <a:latin typeface="Consolas" pitchFamily="34" charset="0"/>
                <a:ea typeface="Consolas" pitchFamily="34" charset="-122"/>
                <a:cs typeface="Consolas" pitchFamily="34" charset="-120"/>
              </a:rPr>
              <a:t>data.py</a:t>
            </a:r>
            <a:endParaRPr lang="en-US" sz="1200" dirty="0"/>
          </a:p>
        </p:txBody>
      </p:sp>
      <p:sp>
        <p:nvSpPr>
          <p:cNvPr id="8" name="Text 6"/>
          <p:cNvSpPr/>
          <p:nvPr/>
        </p:nvSpPr>
        <p:spPr>
          <a:xfrm>
            <a:off x="548640" y="1591056"/>
            <a:ext cx="3840480" cy="25603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Chargement OpenML · One-Hot Encoding · Split train/test · StandardScaler</a:t>
            </a:r>
            <a:endParaRPr lang="en-US" sz="950" dirty="0"/>
          </a:p>
        </p:txBody>
      </p:sp>
      <p:sp>
        <p:nvSpPr>
          <p:cNvPr id="9" name="Shape 7"/>
          <p:cNvSpPr/>
          <p:nvPr/>
        </p:nvSpPr>
        <p:spPr>
          <a:xfrm>
            <a:off x="365760" y="2057400"/>
            <a:ext cx="4114800" cy="74980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0" name="Shape 8"/>
          <p:cNvSpPr/>
          <p:nvPr/>
        </p:nvSpPr>
        <p:spPr>
          <a:xfrm>
            <a:off x="365760" y="2057400"/>
            <a:ext cx="64008" cy="749808"/>
          </a:xfrm>
          <a:prstGeom prst="rect">
            <a:avLst/>
          </a:prstGeom>
          <a:solidFill>
            <a:srgbClr val="1D4ED8"/>
          </a:solidFill>
          <a:ln w="12700">
            <a:solidFill>
              <a:srgbClr val="1D4ED8"/>
            </a:solidFill>
            <a:prstDash val="solid"/>
          </a:ln>
        </p:spPr>
        <p:txBody>
          <a:bodyPr/>
          <a:lstStyle/>
          <a:p>
            <a:endParaRPr lang="fr-FR"/>
          </a:p>
        </p:txBody>
      </p:sp>
      <p:sp>
        <p:nvSpPr>
          <p:cNvPr id="11" name="Text 9"/>
          <p:cNvSpPr/>
          <p:nvPr/>
        </p:nvSpPr>
        <p:spPr>
          <a:xfrm>
            <a:off x="548640" y="2148840"/>
            <a:ext cx="3840480" cy="292608"/>
          </a:xfrm>
          <a:prstGeom prst="rect">
            <a:avLst/>
          </a:prstGeom>
          <a:noFill/>
          <a:ln/>
        </p:spPr>
        <p:txBody>
          <a:bodyPr wrap="square" rtlCol="0" anchor="ctr"/>
          <a:lstStyle/>
          <a:p>
            <a:pPr marL="0" indent="0">
              <a:buNone/>
            </a:pPr>
            <a:r>
              <a:rPr lang="en-US" sz="1200" b="1" dirty="0">
                <a:solidFill>
                  <a:srgbClr val="1D4ED8"/>
                </a:solidFill>
                <a:latin typeface="Consolas" pitchFamily="34" charset="0"/>
                <a:ea typeface="Consolas" pitchFamily="34" charset="-122"/>
                <a:cs typeface="Consolas" pitchFamily="34" charset="-120"/>
              </a:rPr>
              <a:t>train.py</a:t>
            </a:r>
            <a:endParaRPr lang="en-US" sz="1200" dirty="0"/>
          </a:p>
        </p:txBody>
      </p:sp>
      <p:sp>
        <p:nvSpPr>
          <p:cNvPr id="12" name="Text 10"/>
          <p:cNvSpPr/>
          <p:nvPr/>
        </p:nvSpPr>
        <p:spPr>
          <a:xfrm>
            <a:off x="548640" y="2459736"/>
            <a:ext cx="3840480" cy="25603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XGBoost · LightGBM · Decision Tree · Métriques · Sauvegarde modèle</a:t>
            </a:r>
            <a:endParaRPr lang="en-US" sz="950" dirty="0"/>
          </a:p>
        </p:txBody>
      </p:sp>
      <p:sp>
        <p:nvSpPr>
          <p:cNvPr id="13" name="Shape 11"/>
          <p:cNvSpPr/>
          <p:nvPr/>
        </p:nvSpPr>
        <p:spPr>
          <a:xfrm>
            <a:off x="365760" y="2926080"/>
            <a:ext cx="4114800" cy="74980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4" name="Shape 12"/>
          <p:cNvSpPr/>
          <p:nvPr/>
        </p:nvSpPr>
        <p:spPr>
          <a:xfrm>
            <a:off x="365760" y="2926080"/>
            <a:ext cx="64008" cy="749808"/>
          </a:xfrm>
          <a:prstGeom prst="rect">
            <a:avLst/>
          </a:prstGeom>
          <a:solidFill>
            <a:srgbClr val="1D4ED8"/>
          </a:solidFill>
          <a:ln w="12700">
            <a:solidFill>
              <a:srgbClr val="1D4ED8"/>
            </a:solidFill>
            <a:prstDash val="solid"/>
          </a:ln>
        </p:spPr>
        <p:txBody>
          <a:bodyPr/>
          <a:lstStyle/>
          <a:p>
            <a:endParaRPr lang="fr-FR"/>
          </a:p>
        </p:txBody>
      </p:sp>
      <p:sp>
        <p:nvSpPr>
          <p:cNvPr id="15" name="Text 13"/>
          <p:cNvSpPr/>
          <p:nvPr/>
        </p:nvSpPr>
        <p:spPr>
          <a:xfrm>
            <a:off x="548640" y="3017520"/>
            <a:ext cx="3840480" cy="292608"/>
          </a:xfrm>
          <a:prstGeom prst="rect">
            <a:avLst/>
          </a:prstGeom>
          <a:noFill/>
          <a:ln/>
        </p:spPr>
        <p:txBody>
          <a:bodyPr wrap="square" rtlCol="0" anchor="ctr"/>
          <a:lstStyle/>
          <a:p>
            <a:pPr marL="0" indent="0">
              <a:buNone/>
            </a:pPr>
            <a:r>
              <a:rPr lang="en-US" sz="1200" b="1" dirty="0">
                <a:solidFill>
                  <a:srgbClr val="1D4ED8"/>
                </a:solidFill>
                <a:latin typeface="Consolas" pitchFamily="34" charset="0"/>
                <a:ea typeface="Consolas" pitchFamily="34" charset="-122"/>
                <a:cs typeface="Consolas" pitchFamily="34" charset="-120"/>
              </a:rPr>
              <a:t>explain.py</a:t>
            </a:r>
            <a:endParaRPr lang="en-US" sz="1200" dirty="0"/>
          </a:p>
        </p:txBody>
      </p:sp>
      <p:sp>
        <p:nvSpPr>
          <p:cNvPr id="16" name="Text 14"/>
          <p:cNvSpPr/>
          <p:nvPr/>
        </p:nvSpPr>
        <p:spPr>
          <a:xfrm>
            <a:off x="548640" y="3328416"/>
            <a:ext cx="3840480" cy="25603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SHAP global &amp; local · LIME · Contrefactuels DiCE · Comparaison</a:t>
            </a:r>
            <a:endParaRPr lang="en-US" sz="950" dirty="0"/>
          </a:p>
        </p:txBody>
      </p:sp>
      <p:sp>
        <p:nvSpPr>
          <p:cNvPr id="17" name="Shape 15"/>
          <p:cNvSpPr/>
          <p:nvPr/>
        </p:nvSpPr>
        <p:spPr>
          <a:xfrm>
            <a:off x="365760" y="3794760"/>
            <a:ext cx="4114800" cy="74980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8" name="Shape 16"/>
          <p:cNvSpPr/>
          <p:nvPr/>
        </p:nvSpPr>
        <p:spPr>
          <a:xfrm>
            <a:off x="365760" y="3794760"/>
            <a:ext cx="64008" cy="749808"/>
          </a:xfrm>
          <a:prstGeom prst="rect">
            <a:avLst/>
          </a:prstGeom>
          <a:solidFill>
            <a:srgbClr val="1D4ED8"/>
          </a:solidFill>
          <a:ln w="12700">
            <a:solidFill>
              <a:srgbClr val="1D4ED8"/>
            </a:solidFill>
            <a:prstDash val="solid"/>
          </a:ln>
        </p:spPr>
        <p:txBody>
          <a:bodyPr/>
          <a:lstStyle/>
          <a:p>
            <a:endParaRPr lang="fr-FR"/>
          </a:p>
        </p:txBody>
      </p:sp>
      <p:sp>
        <p:nvSpPr>
          <p:cNvPr id="19" name="Text 17"/>
          <p:cNvSpPr/>
          <p:nvPr/>
        </p:nvSpPr>
        <p:spPr>
          <a:xfrm>
            <a:off x="548640" y="3886200"/>
            <a:ext cx="3840480" cy="292608"/>
          </a:xfrm>
          <a:prstGeom prst="rect">
            <a:avLst/>
          </a:prstGeom>
          <a:noFill/>
          <a:ln/>
        </p:spPr>
        <p:txBody>
          <a:bodyPr wrap="square" rtlCol="0" anchor="ctr"/>
          <a:lstStyle/>
          <a:p>
            <a:pPr marL="0" indent="0">
              <a:buNone/>
            </a:pPr>
            <a:r>
              <a:rPr lang="en-US" sz="1200" b="1" dirty="0">
                <a:solidFill>
                  <a:srgbClr val="1D4ED8"/>
                </a:solidFill>
                <a:latin typeface="Consolas" pitchFamily="34" charset="0"/>
                <a:ea typeface="Consolas" pitchFamily="34" charset="-122"/>
                <a:cs typeface="Consolas" pitchFamily="34" charset="-120"/>
              </a:rPr>
              <a:t>fairness.py</a:t>
            </a:r>
            <a:endParaRPr lang="en-US" sz="1200" dirty="0"/>
          </a:p>
        </p:txBody>
      </p:sp>
      <p:sp>
        <p:nvSpPr>
          <p:cNvPr id="20" name="Text 18"/>
          <p:cNvSpPr/>
          <p:nvPr/>
        </p:nvSpPr>
        <p:spPr>
          <a:xfrm>
            <a:off x="548640" y="4197096"/>
            <a:ext cx="3840480" cy="25603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Demographic Parity · Equalized Odds · Graphiques Fairlearn</a:t>
            </a:r>
            <a:endParaRPr lang="en-US" sz="950" dirty="0"/>
          </a:p>
        </p:txBody>
      </p:sp>
      <p:sp>
        <p:nvSpPr>
          <p:cNvPr id="21" name="Shape 19"/>
          <p:cNvSpPr/>
          <p:nvPr/>
        </p:nvSpPr>
        <p:spPr>
          <a:xfrm>
            <a:off x="4709160" y="1188720"/>
            <a:ext cx="4114800" cy="1024128"/>
          </a:xfrm>
          <a:prstGeom prst="rect">
            <a:avLst/>
          </a:prstGeom>
          <a:solidFill>
            <a:srgbClr val="EFF6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22" name="Shape 20"/>
          <p:cNvSpPr/>
          <p:nvPr/>
        </p:nvSpPr>
        <p:spPr>
          <a:xfrm>
            <a:off x="4709160" y="1188720"/>
            <a:ext cx="64008" cy="1024128"/>
          </a:xfrm>
          <a:prstGeom prst="rect">
            <a:avLst/>
          </a:prstGeom>
          <a:solidFill>
            <a:srgbClr val="0F2444"/>
          </a:solidFill>
          <a:ln w="12700">
            <a:solidFill>
              <a:srgbClr val="0F2444"/>
            </a:solidFill>
            <a:prstDash val="solid"/>
          </a:ln>
        </p:spPr>
        <p:txBody>
          <a:bodyPr/>
          <a:lstStyle/>
          <a:p>
            <a:endParaRPr lang="fr-FR"/>
          </a:p>
        </p:txBody>
      </p:sp>
      <p:sp>
        <p:nvSpPr>
          <p:cNvPr id="23" name="Text 21"/>
          <p:cNvSpPr/>
          <p:nvPr/>
        </p:nvSpPr>
        <p:spPr>
          <a:xfrm>
            <a:off x="4892040" y="1280160"/>
            <a:ext cx="3840480" cy="292608"/>
          </a:xfrm>
          <a:prstGeom prst="rect">
            <a:avLst/>
          </a:prstGeom>
          <a:noFill/>
          <a:ln/>
        </p:spPr>
        <p:txBody>
          <a:bodyPr wrap="square" rtlCol="0" anchor="ctr"/>
          <a:lstStyle/>
          <a:p>
            <a:pPr marL="0" indent="0">
              <a:buNone/>
            </a:pPr>
            <a:r>
              <a:rPr lang="en-US" sz="1200" b="1" dirty="0">
                <a:solidFill>
                  <a:srgbClr val="0F2444"/>
                </a:solidFill>
                <a:latin typeface="Consolas" pitchFamily="34" charset="0"/>
                <a:ea typeface="Consolas" pitchFamily="34" charset="-122"/>
                <a:cs typeface="Consolas" pitchFamily="34" charset="-120"/>
              </a:rPr>
              <a:t>main.py</a:t>
            </a:r>
            <a:endParaRPr lang="en-US" sz="1200" dirty="0"/>
          </a:p>
        </p:txBody>
      </p:sp>
      <p:sp>
        <p:nvSpPr>
          <p:cNvPr id="24" name="Text 22"/>
          <p:cNvSpPr/>
          <p:nvPr/>
        </p:nvSpPr>
        <p:spPr>
          <a:xfrm>
            <a:off x="4892040" y="1591056"/>
            <a:ext cx="3840480" cy="530352"/>
          </a:xfrm>
          <a:prstGeom prst="rect">
            <a:avLst/>
          </a:prstGeom>
          <a:noFill/>
          <a:ln/>
        </p:spPr>
        <p:txBody>
          <a:bodyPr wrap="square" rtlCol="0" anchor="ctr"/>
          <a:lstStyle/>
          <a:p>
            <a:pPr marL="0" indent="0">
              <a:buNone/>
            </a:pPr>
            <a:r>
              <a:rPr lang="en-US" sz="950" dirty="0" err="1">
                <a:solidFill>
                  <a:srgbClr val="374151"/>
                </a:solidFill>
                <a:latin typeface="Calibri" pitchFamily="34" charset="0"/>
                <a:ea typeface="Calibri" pitchFamily="34" charset="-122"/>
                <a:cs typeface="Calibri" pitchFamily="34" charset="-120"/>
              </a:rPr>
              <a:t>Appelle</a:t>
            </a:r>
            <a:r>
              <a:rPr lang="en-US" sz="950" dirty="0">
                <a:solidFill>
                  <a:srgbClr val="374151"/>
                </a:solidFill>
                <a:latin typeface="Calibri" pitchFamily="34" charset="0"/>
                <a:ea typeface="Calibri" pitchFamily="34" charset="-122"/>
                <a:cs typeface="Calibri" pitchFamily="34" charset="-120"/>
              </a:rPr>
              <a:t> les 4 modules dans l'ordre, génère tous les graphiques</a:t>
            </a:r>
            <a:endParaRPr lang="en-US" sz="950" dirty="0"/>
          </a:p>
        </p:txBody>
      </p:sp>
      <p:sp>
        <p:nvSpPr>
          <p:cNvPr id="25" name="Shape 23"/>
          <p:cNvSpPr/>
          <p:nvPr/>
        </p:nvSpPr>
        <p:spPr>
          <a:xfrm>
            <a:off x="4709160" y="2377440"/>
            <a:ext cx="4114800" cy="1024128"/>
          </a:xfrm>
          <a:prstGeom prst="rect">
            <a:avLst/>
          </a:prstGeom>
          <a:solidFill>
            <a:srgbClr val="F0FDF4"/>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26" name="Shape 24"/>
          <p:cNvSpPr/>
          <p:nvPr/>
        </p:nvSpPr>
        <p:spPr>
          <a:xfrm>
            <a:off x="4709160" y="2377440"/>
            <a:ext cx="64008" cy="1024128"/>
          </a:xfrm>
          <a:prstGeom prst="rect">
            <a:avLst/>
          </a:prstGeom>
          <a:solidFill>
            <a:srgbClr val="16A34A"/>
          </a:solidFill>
          <a:ln w="12700">
            <a:solidFill>
              <a:srgbClr val="16A34A"/>
            </a:solidFill>
            <a:prstDash val="solid"/>
          </a:ln>
        </p:spPr>
        <p:txBody>
          <a:bodyPr/>
          <a:lstStyle/>
          <a:p>
            <a:endParaRPr lang="fr-FR"/>
          </a:p>
        </p:txBody>
      </p:sp>
      <p:sp>
        <p:nvSpPr>
          <p:cNvPr id="27" name="Text 25"/>
          <p:cNvSpPr/>
          <p:nvPr/>
        </p:nvSpPr>
        <p:spPr>
          <a:xfrm>
            <a:off x="4892040" y="2468880"/>
            <a:ext cx="3840480" cy="292608"/>
          </a:xfrm>
          <a:prstGeom prst="rect">
            <a:avLst/>
          </a:prstGeom>
          <a:noFill/>
          <a:ln/>
        </p:spPr>
        <p:txBody>
          <a:bodyPr wrap="square" rtlCol="0" anchor="ctr"/>
          <a:lstStyle/>
          <a:p>
            <a:pPr marL="0" indent="0">
              <a:buNone/>
            </a:pPr>
            <a:r>
              <a:rPr lang="en-US" sz="1200" b="1" dirty="0">
                <a:solidFill>
                  <a:srgbClr val="16A34A"/>
                </a:solidFill>
                <a:latin typeface="Consolas" pitchFamily="34" charset="0"/>
                <a:ea typeface="Consolas" pitchFamily="34" charset="-122"/>
                <a:cs typeface="Consolas" pitchFamily="34" charset="-120"/>
              </a:rPr>
              <a:t>dashboard.py</a:t>
            </a:r>
            <a:endParaRPr lang="en-US" sz="1200" dirty="0"/>
          </a:p>
        </p:txBody>
      </p:sp>
      <p:sp>
        <p:nvSpPr>
          <p:cNvPr id="28" name="Text 26"/>
          <p:cNvSpPr/>
          <p:nvPr/>
        </p:nvSpPr>
        <p:spPr>
          <a:xfrm>
            <a:off x="4892040" y="2779776"/>
            <a:ext cx="3840480" cy="530352"/>
          </a:xfrm>
          <a:prstGeom prst="rect">
            <a:avLst/>
          </a:prstGeom>
          <a:noFill/>
          <a:ln/>
        </p:spPr>
        <p:txBody>
          <a:bodyPr wrap="square" rtlCol="0" anchor="ctr"/>
          <a:lstStyle/>
          <a:p>
            <a:pPr marL="0" indent="0">
              <a:buNone/>
            </a:pPr>
            <a:r>
              <a:rPr lang="en-US" sz="950" dirty="0">
                <a:solidFill>
                  <a:srgbClr val="374151"/>
                </a:solidFill>
                <a:latin typeface="Calibri" pitchFamily="34" charset="0"/>
                <a:ea typeface="Calibri" pitchFamily="34" charset="-122"/>
                <a:cs typeface="Calibri" pitchFamily="34" charset="-120"/>
              </a:rPr>
              <a:t>Interface Gradio — prédiction + SHAP + LIME en temps </a:t>
            </a:r>
            <a:r>
              <a:rPr lang="en-US" sz="950" dirty="0" err="1">
                <a:solidFill>
                  <a:srgbClr val="374151"/>
                </a:solidFill>
                <a:latin typeface="Calibri" pitchFamily="34" charset="0"/>
                <a:ea typeface="Calibri" pitchFamily="34" charset="-122"/>
                <a:cs typeface="Calibri" pitchFamily="34" charset="-120"/>
              </a:rPr>
              <a:t>réel</a:t>
            </a:r>
            <a:r>
              <a:rPr lang="en-US" sz="950" dirty="0">
                <a:solidFill>
                  <a:srgbClr val="374151"/>
                </a:solidFill>
                <a:latin typeface="Calibri" pitchFamily="34" charset="0"/>
                <a:ea typeface="Calibri" pitchFamily="34" charset="-122"/>
                <a:cs typeface="Calibri" pitchFamily="34" charset="-120"/>
              </a:rPr>
              <a:t> </a:t>
            </a:r>
            <a:endParaRPr lang="en-US" sz="950" dirty="0"/>
          </a:p>
        </p:txBody>
      </p:sp>
      <p:sp>
        <p:nvSpPr>
          <p:cNvPr id="29" name="Shape 27"/>
          <p:cNvSpPr/>
          <p:nvPr/>
        </p:nvSpPr>
        <p:spPr>
          <a:xfrm>
            <a:off x="0" y="4892040"/>
            <a:ext cx="9144000" cy="251460"/>
          </a:xfrm>
          <a:prstGeom prst="rect">
            <a:avLst/>
          </a:prstGeom>
          <a:solidFill>
            <a:srgbClr val="0A1A30"/>
          </a:solidFill>
          <a:ln w="12700">
            <a:solidFill>
              <a:srgbClr val="0A1A30"/>
            </a:solidFill>
            <a:prstDash val="solid"/>
          </a:ln>
        </p:spPr>
        <p:txBody>
          <a:bodyPr/>
          <a:lstStyle/>
          <a:p>
            <a:endParaRPr lang="fr-FR"/>
          </a:p>
        </p:txBody>
      </p:sp>
      <p:sp>
        <p:nvSpPr>
          <p:cNvPr id="30" name="Text 28"/>
          <p:cNvSpPr/>
          <p:nvPr/>
        </p:nvSpPr>
        <p:spPr>
          <a:xfrm>
            <a:off x="320040" y="4901184"/>
            <a:ext cx="6400800" cy="22860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Robin Lamy  ·  ECE Paris ING4 Finance IA  ·  2026</a:t>
            </a:r>
            <a:endParaRPr lang="en-US" sz="800" dirty="0"/>
          </a:p>
        </p:txBody>
      </p:sp>
      <p:sp>
        <p:nvSpPr>
          <p:cNvPr id="31" name="Text 29"/>
          <p:cNvSpPr/>
          <p:nvPr/>
        </p:nvSpPr>
        <p:spPr>
          <a:xfrm>
            <a:off x="8229600" y="4901184"/>
            <a:ext cx="640080" cy="22860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10 / 12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5F9"/>
        </a:solidFill>
        <a:effectLst/>
      </p:bgPr>
    </p:bg>
    <p:spTree>
      <p:nvGrpSpPr>
        <p:cNvPr id="1" name=""/>
        <p:cNvGrpSpPr/>
        <p:nvPr/>
      </p:nvGrpSpPr>
      <p:grpSpPr>
        <a:xfrm>
          <a:off x="0" y="0"/>
          <a:ext cx="0" cy="0"/>
          <a:chOff x="0" y="0"/>
          <a:chExt cx="0" cy="0"/>
        </a:xfrm>
      </p:grpSpPr>
      <p:sp>
        <p:nvSpPr>
          <p:cNvPr id="2" name="Shape 0"/>
          <p:cNvSpPr/>
          <p:nvPr/>
        </p:nvSpPr>
        <p:spPr>
          <a:xfrm>
            <a:off x="365760" y="201168"/>
            <a:ext cx="54864" cy="292608"/>
          </a:xfrm>
          <a:prstGeom prst="rect">
            <a:avLst/>
          </a:prstGeom>
          <a:solidFill>
            <a:srgbClr val="1D4ED8"/>
          </a:solidFill>
          <a:ln w="12700">
            <a:solidFill>
              <a:srgbClr val="1D4ED8"/>
            </a:solidFill>
            <a:prstDash val="solid"/>
          </a:ln>
        </p:spPr>
        <p:txBody>
          <a:bodyPr/>
          <a:lstStyle/>
          <a:p>
            <a:endParaRPr lang="fr-FR"/>
          </a:p>
        </p:txBody>
      </p:sp>
      <p:sp>
        <p:nvSpPr>
          <p:cNvPr id="3" name="Text 1"/>
          <p:cNvSpPr/>
          <p:nvPr/>
        </p:nvSpPr>
        <p:spPr>
          <a:xfrm>
            <a:off x="502920" y="201168"/>
            <a:ext cx="3657600" cy="292608"/>
          </a:xfrm>
          <a:prstGeom prst="rect">
            <a:avLst/>
          </a:prstGeom>
          <a:noFill/>
          <a:ln/>
        </p:spPr>
        <p:txBody>
          <a:bodyPr wrap="square" lIns="0" tIns="0" rIns="0" bIns="0" rtlCol="0" anchor="ctr"/>
          <a:lstStyle/>
          <a:p>
            <a:pPr marL="0" indent="0">
              <a:buNone/>
            </a:pPr>
            <a:r>
              <a:rPr lang="en-US" sz="900" b="1" kern="0" spc="200" dirty="0">
                <a:solidFill>
                  <a:srgbClr val="1D4ED8"/>
                </a:solidFill>
                <a:latin typeface="Calibri" pitchFamily="34" charset="0"/>
                <a:ea typeface="Calibri" pitchFamily="34" charset="-122"/>
                <a:cs typeface="Calibri" pitchFamily="34" charset="-120"/>
              </a:rPr>
              <a:t>BILAN</a:t>
            </a:r>
            <a:endParaRPr lang="en-US" sz="900" dirty="0"/>
          </a:p>
        </p:txBody>
      </p:sp>
      <p:sp>
        <p:nvSpPr>
          <p:cNvPr id="4" name="Text 2"/>
          <p:cNvSpPr/>
          <p:nvPr/>
        </p:nvSpPr>
        <p:spPr>
          <a:xfrm>
            <a:off x="365760" y="548640"/>
            <a:ext cx="8412480" cy="502920"/>
          </a:xfrm>
          <a:prstGeom prst="rect">
            <a:avLst/>
          </a:prstGeom>
          <a:noFill/>
          <a:ln/>
        </p:spPr>
        <p:txBody>
          <a:bodyPr wrap="square" rtlCol="0" anchor="ctr"/>
          <a:lstStyle/>
          <a:p>
            <a:pPr marL="0" indent="0">
              <a:buNone/>
            </a:pPr>
            <a:r>
              <a:rPr lang="en-US" sz="2600" b="1" dirty="0">
                <a:solidFill>
                  <a:srgbClr val="1E293B"/>
                </a:solidFill>
                <a:latin typeface="Calibri Light" pitchFamily="34" charset="0"/>
                <a:ea typeface="Calibri Light" pitchFamily="34" charset="-122"/>
                <a:cs typeface="Calibri Light" pitchFamily="34" charset="-120"/>
              </a:rPr>
              <a:t>Résultats, limites &amp; perspectives</a:t>
            </a:r>
            <a:endParaRPr lang="en-US" sz="2600" dirty="0"/>
          </a:p>
        </p:txBody>
      </p:sp>
      <p:sp>
        <p:nvSpPr>
          <p:cNvPr id="5" name="Shape 3"/>
          <p:cNvSpPr/>
          <p:nvPr/>
        </p:nvSpPr>
        <p:spPr>
          <a:xfrm>
            <a:off x="365760" y="1188720"/>
            <a:ext cx="1920240" cy="105156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6" name="Shape 4"/>
          <p:cNvSpPr/>
          <p:nvPr/>
        </p:nvSpPr>
        <p:spPr>
          <a:xfrm>
            <a:off x="365760" y="1188720"/>
            <a:ext cx="1920240" cy="54864"/>
          </a:xfrm>
          <a:prstGeom prst="rect">
            <a:avLst/>
          </a:prstGeom>
          <a:solidFill>
            <a:srgbClr val="16A34A"/>
          </a:solidFill>
          <a:ln w="12700">
            <a:solidFill>
              <a:srgbClr val="16A34A"/>
            </a:solidFill>
            <a:prstDash val="solid"/>
          </a:ln>
        </p:spPr>
        <p:txBody>
          <a:bodyPr/>
          <a:lstStyle/>
          <a:p>
            <a:endParaRPr lang="fr-FR"/>
          </a:p>
        </p:txBody>
      </p:sp>
      <p:sp>
        <p:nvSpPr>
          <p:cNvPr id="7" name="Text 5"/>
          <p:cNvSpPr/>
          <p:nvPr/>
        </p:nvSpPr>
        <p:spPr>
          <a:xfrm>
            <a:off x="365760" y="1280160"/>
            <a:ext cx="1920240" cy="502920"/>
          </a:xfrm>
          <a:prstGeom prst="rect">
            <a:avLst/>
          </a:prstGeom>
          <a:noFill/>
          <a:ln/>
        </p:spPr>
        <p:txBody>
          <a:bodyPr wrap="square" rtlCol="0" anchor="ctr"/>
          <a:lstStyle/>
          <a:p>
            <a:pPr marL="0" indent="0" algn="ctr">
              <a:buNone/>
            </a:pPr>
            <a:r>
              <a:rPr lang="en-US" sz="2800" b="1" dirty="0">
                <a:solidFill>
                  <a:srgbClr val="16A34A"/>
                </a:solidFill>
                <a:latin typeface="Calibri Light" pitchFamily="34" charset="0"/>
                <a:ea typeface="Calibri Light" pitchFamily="34" charset="-122"/>
                <a:cs typeface="Calibri Light" pitchFamily="34" charset="-120"/>
              </a:rPr>
              <a:t>0.765</a:t>
            </a:r>
            <a:endParaRPr lang="en-US" sz="2800" dirty="0"/>
          </a:p>
        </p:txBody>
      </p:sp>
      <p:sp>
        <p:nvSpPr>
          <p:cNvPr id="8" name="Text 6"/>
          <p:cNvSpPr/>
          <p:nvPr/>
        </p:nvSpPr>
        <p:spPr>
          <a:xfrm>
            <a:off x="365760" y="1755648"/>
            <a:ext cx="1920240" cy="365760"/>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AUC-ROC</a:t>
            </a:r>
            <a:endParaRPr lang="en-US" sz="900" dirty="0"/>
          </a:p>
          <a:p>
            <a:pPr marL="0" indent="0" algn="ctr">
              <a:buNone/>
            </a:pPr>
            <a:r>
              <a:rPr lang="en-US" sz="900" dirty="0">
                <a:solidFill>
                  <a:srgbClr val="475569"/>
                </a:solidFill>
                <a:latin typeface="Calibri" pitchFamily="34" charset="0"/>
                <a:ea typeface="Calibri" pitchFamily="34" charset="-122"/>
                <a:cs typeface="Calibri" pitchFamily="34" charset="-120"/>
              </a:rPr>
              <a:t>XGBoost</a:t>
            </a:r>
            <a:endParaRPr lang="en-US" sz="900" dirty="0"/>
          </a:p>
        </p:txBody>
      </p:sp>
      <p:sp>
        <p:nvSpPr>
          <p:cNvPr id="9" name="Shape 7"/>
          <p:cNvSpPr/>
          <p:nvPr/>
        </p:nvSpPr>
        <p:spPr>
          <a:xfrm>
            <a:off x="2468880" y="1188720"/>
            <a:ext cx="1920240" cy="105156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0" name="Shape 8"/>
          <p:cNvSpPr/>
          <p:nvPr/>
        </p:nvSpPr>
        <p:spPr>
          <a:xfrm>
            <a:off x="2468880" y="1188720"/>
            <a:ext cx="1920240" cy="54864"/>
          </a:xfrm>
          <a:prstGeom prst="rect">
            <a:avLst/>
          </a:prstGeom>
          <a:solidFill>
            <a:srgbClr val="1D4ED8"/>
          </a:solidFill>
          <a:ln w="12700">
            <a:solidFill>
              <a:srgbClr val="1D4ED8"/>
            </a:solidFill>
            <a:prstDash val="solid"/>
          </a:ln>
        </p:spPr>
        <p:txBody>
          <a:bodyPr/>
          <a:lstStyle/>
          <a:p>
            <a:endParaRPr lang="fr-FR"/>
          </a:p>
        </p:txBody>
      </p:sp>
      <p:sp>
        <p:nvSpPr>
          <p:cNvPr id="11" name="Text 9"/>
          <p:cNvSpPr/>
          <p:nvPr/>
        </p:nvSpPr>
        <p:spPr>
          <a:xfrm>
            <a:off x="2468880" y="1280160"/>
            <a:ext cx="1920240" cy="502920"/>
          </a:xfrm>
          <a:prstGeom prst="rect">
            <a:avLst/>
          </a:prstGeom>
          <a:noFill/>
          <a:ln/>
        </p:spPr>
        <p:txBody>
          <a:bodyPr wrap="square" rtlCol="0" anchor="ctr"/>
          <a:lstStyle/>
          <a:p>
            <a:pPr marL="0" indent="0" algn="ctr">
              <a:buNone/>
            </a:pPr>
            <a:r>
              <a:rPr lang="en-US" sz="2800" b="1" dirty="0">
                <a:solidFill>
                  <a:srgbClr val="1D4ED8"/>
                </a:solidFill>
                <a:latin typeface="Calibri Light" pitchFamily="34" charset="0"/>
                <a:ea typeface="Calibri Light" pitchFamily="34" charset="-122"/>
                <a:cs typeface="Calibri Light" pitchFamily="34" charset="-120"/>
              </a:rPr>
              <a:t>0.874</a:t>
            </a:r>
            <a:endParaRPr lang="en-US" sz="2800" dirty="0"/>
          </a:p>
        </p:txBody>
      </p:sp>
      <p:sp>
        <p:nvSpPr>
          <p:cNvPr id="12" name="Text 10"/>
          <p:cNvSpPr/>
          <p:nvPr/>
        </p:nvSpPr>
        <p:spPr>
          <a:xfrm>
            <a:off x="2468880" y="1755648"/>
            <a:ext cx="1920240" cy="365760"/>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AUPRC</a:t>
            </a:r>
            <a:endParaRPr lang="en-US" sz="900" dirty="0"/>
          </a:p>
          <a:p>
            <a:pPr marL="0" indent="0" algn="ctr">
              <a:buNone/>
            </a:pPr>
            <a:r>
              <a:rPr lang="en-US" sz="900" dirty="0">
                <a:solidFill>
                  <a:srgbClr val="475569"/>
                </a:solidFill>
                <a:latin typeface="Calibri" pitchFamily="34" charset="0"/>
                <a:ea typeface="Calibri" pitchFamily="34" charset="-122"/>
                <a:cs typeface="Calibri" pitchFamily="34" charset="-120"/>
              </a:rPr>
              <a:t>XGBoost</a:t>
            </a:r>
            <a:endParaRPr lang="en-US" sz="900" dirty="0"/>
          </a:p>
        </p:txBody>
      </p:sp>
      <p:sp>
        <p:nvSpPr>
          <p:cNvPr id="13" name="Shape 11"/>
          <p:cNvSpPr/>
          <p:nvPr/>
        </p:nvSpPr>
        <p:spPr>
          <a:xfrm>
            <a:off x="4572000" y="1188720"/>
            <a:ext cx="1920240" cy="105156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4" name="Shape 12"/>
          <p:cNvSpPr/>
          <p:nvPr/>
        </p:nvSpPr>
        <p:spPr>
          <a:xfrm>
            <a:off x="4572000" y="1188720"/>
            <a:ext cx="1920240" cy="54864"/>
          </a:xfrm>
          <a:prstGeom prst="rect">
            <a:avLst/>
          </a:prstGeom>
          <a:solidFill>
            <a:srgbClr val="16A34A"/>
          </a:solidFill>
          <a:ln w="12700">
            <a:solidFill>
              <a:srgbClr val="16A34A"/>
            </a:solidFill>
            <a:prstDash val="solid"/>
          </a:ln>
        </p:spPr>
        <p:txBody>
          <a:bodyPr/>
          <a:lstStyle/>
          <a:p>
            <a:endParaRPr lang="fr-FR"/>
          </a:p>
        </p:txBody>
      </p:sp>
      <p:sp>
        <p:nvSpPr>
          <p:cNvPr id="15" name="Text 13"/>
          <p:cNvSpPr/>
          <p:nvPr/>
        </p:nvSpPr>
        <p:spPr>
          <a:xfrm>
            <a:off x="4572000" y="1280160"/>
            <a:ext cx="1920240" cy="502920"/>
          </a:xfrm>
          <a:prstGeom prst="rect">
            <a:avLst/>
          </a:prstGeom>
          <a:noFill/>
          <a:ln/>
        </p:spPr>
        <p:txBody>
          <a:bodyPr wrap="square" rtlCol="0" anchor="ctr"/>
          <a:lstStyle/>
          <a:p>
            <a:pPr marL="0" indent="0" algn="ctr">
              <a:buNone/>
            </a:pPr>
            <a:r>
              <a:rPr lang="en-US" sz="2800" b="1" dirty="0">
                <a:solidFill>
                  <a:srgbClr val="16A34A"/>
                </a:solidFill>
                <a:latin typeface="Calibri Light" pitchFamily="34" charset="0"/>
                <a:ea typeface="Calibri Light" pitchFamily="34" charset="-122"/>
                <a:cs typeface="Calibri Light" pitchFamily="34" charset="-120"/>
              </a:rPr>
              <a:t>0.064</a:t>
            </a:r>
            <a:endParaRPr lang="en-US" sz="2800" dirty="0"/>
          </a:p>
        </p:txBody>
      </p:sp>
      <p:sp>
        <p:nvSpPr>
          <p:cNvPr id="16" name="Text 14"/>
          <p:cNvSpPr/>
          <p:nvPr/>
        </p:nvSpPr>
        <p:spPr>
          <a:xfrm>
            <a:off x="4572000" y="1755648"/>
            <a:ext cx="1920240" cy="365760"/>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Parité démo.</a:t>
            </a:r>
            <a:endParaRPr lang="en-US" sz="900" dirty="0"/>
          </a:p>
          <a:p>
            <a:pPr marL="0" indent="0" algn="ctr">
              <a:buNone/>
            </a:pPr>
            <a:r>
              <a:rPr lang="en-US" sz="900" dirty="0">
                <a:solidFill>
                  <a:srgbClr val="475569"/>
                </a:solidFill>
                <a:latin typeface="Calibri" pitchFamily="34" charset="0"/>
                <a:ea typeface="Calibri" pitchFamily="34" charset="-122"/>
                <a:cs typeface="Calibri" pitchFamily="34" charset="-120"/>
              </a:rPr>
              <a:t>Acceptable</a:t>
            </a:r>
            <a:endParaRPr lang="en-US" sz="900" dirty="0"/>
          </a:p>
        </p:txBody>
      </p:sp>
      <p:sp>
        <p:nvSpPr>
          <p:cNvPr id="17" name="Shape 15"/>
          <p:cNvSpPr/>
          <p:nvPr/>
        </p:nvSpPr>
        <p:spPr>
          <a:xfrm>
            <a:off x="6675120" y="1188720"/>
            <a:ext cx="1920240" cy="105156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18" name="Shape 16"/>
          <p:cNvSpPr/>
          <p:nvPr/>
        </p:nvSpPr>
        <p:spPr>
          <a:xfrm>
            <a:off x="6675120" y="1188720"/>
            <a:ext cx="1920240" cy="54864"/>
          </a:xfrm>
          <a:prstGeom prst="rect">
            <a:avLst/>
          </a:prstGeom>
          <a:solidFill>
            <a:srgbClr val="D97706"/>
          </a:solidFill>
          <a:ln w="12700">
            <a:solidFill>
              <a:srgbClr val="D97706"/>
            </a:solidFill>
            <a:prstDash val="solid"/>
          </a:ln>
        </p:spPr>
        <p:txBody>
          <a:bodyPr/>
          <a:lstStyle/>
          <a:p>
            <a:endParaRPr lang="fr-FR"/>
          </a:p>
        </p:txBody>
      </p:sp>
      <p:sp>
        <p:nvSpPr>
          <p:cNvPr id="19" name="Text 17"/>
          <p:cNvSpPr/>
          <p:nvPr/>
        </p:nvSpPr>
        <p:spPr>
          <a:xfrm>
            <a:off x="6675120" y="1280160"/>
            <a:ext cx="1920240" cy="502920"/>
          </a:xfrm>
          <a:prstGeom prst="rect">
            <a:avLst/>
          </a:prstGeom>
          <a:noFill/>
          <a:ln/>
        </p:spPr>
        <p:txBody>
          <a:bodyPr wrap="square" rtlCol="0" anchor="ctr"/>
          <a:lstStyle/>
          <a:p>
            <a:pPr marL="0" indent="0" algn="ctr">
              <a:buNone/>
            </a:pPr>
            <a:r>
              <a:rPr lang="en-US" sz="2800" b="1" dirty="0">
                <a:solidFill>
                  <a:srgbClr val="D97706"/>
                </a:solidFill>
                <a:latin typeface="Calibri Light" pitchFamily="34" charset="0"/>
                <a:ea typeface="Calibri Light" pitchFamily="34" charset="-122"/>
                <a:cs typeface="Calibri Light" pitchFamily="34" charset="-120"/>
              </a:rPr>
              <a:t>0.107</a:t>
            </a:r>
            <a:endParaRPr lang="en-US" sz="2800" dirty="0"/>
          </a:p>
        </p:txBody>
      </p:sp>
      <p:sp>
        <p:nvSpPr>
          <p:cNvPr id="20" name="Text 18"/>
          <p:cNvSpPr/>
          <p:nvPr/>
        </p:nvSpPr>
        <p:spPr>
          <a:xfrm>
            <a:off x="6675120" y="1755648"/>
            <a:ext cx="1920240" cy="365760"/>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Equalized Odds</a:t>
            </a:r>
            <a:endParaRPr lang="en-US" sz="900" dirty="0"/>
          </a:p>
          <a:p>
            <a:pPr marL="0" indent="0" algn="ctr">
              <a:buNone/>
            </a:pPr>
            <a:r>
              <a:rPr lang="en-US" sz="900" dirty="0">
                <a:solidFill>
                  <a:srgbClr val="475569"/>
                </a:solidFill>
                <a:latin typeface="Calibri" pitchFamily="34" charset="0"/>
                <a:ea typeface="Calibri" pitchFamily="34" charset="-122"/>
                <a:cs typeface="Calibri" pitchFamily="34" charset="-120"/>
              </a:rPr>
              <a:t>A surveiller</a:t>
            </a:r>
            <a:endParaRPr lang="en-US" sz="900" dirty="0"/>
          </a:p>
        </p:txBody>
      </p:sp>
      <p:sp>
        <p:nvSpPr>
          <p:cNvPr id="21" name="Shape 19"/>
          <p:cNvSpPr/>
          <p:nvPr/>
        </p:nvSpPr>
        <p:spPr>
          <a:xfrm>
            <a:off x="365760" y="2423160"/>
            <a:ext cx="4023360" cy="219456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22" name="Shape 20"/>
          <p:cNvSpPr/>
          <p:nvPr/>
        </p:nvSpPr>
        <p:spPr>
          <a:xfrm>
            <a:off x="365760" y="2423160"/>
            <a:ext cx="4023360" cy="64008"/>
          </a:xfrm>
          <a:prstGeom prst="rect">
            <a:avLst/>
          </a:prstGeom>
          <a:solidFill>
            <a:srgbClr val="D97706"/>
          </a:solidFill>
          <a:ln w="12700">
            <a:solidFill>
              <a:srgbClr val="D97706"/>
            </a:solidFill>
            <a:prstDash val="solid"/>
          </a:ln>
        </p:spPr>
        <p:txBody>
          <a:bodyPr/>
          <a:lstStyle/>
          <a:p>
            <a:endParaRPr lang="fr-FR"/>
          </a:p>
        </p:txBody>
      </p:sp>
      <p:sp>
        <p:nvSpPr>
          <p:cNvPr id="23" name="Text 21"/>
          <p:cNvSpPr/>
          <p:nvPr/>
        </p:nvSpPr>
        <p:spPr>
          <a:xfrm>
            <a:off x="502920" y="2523744"/>
            <a:ext cx="3749040" cy="292608"/>
          </a:xfrm>
          <a:prstGeom prst="rect">
            <a:avLst/>
          </a:prstGeom>
          <a:noFill/>
          <a:ln/>
        </p:spPr>
        <p:txBody>
          <a:bodyPr wrap="square"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Limites</a:t>
            </a:r>
            <a:endParaRPr lang="en-US" sz="1200" dirty="0"/>
          </a:p>
        </p:txBody>
      </p:sp>
      <p:sp>
        <p:nvSpPr>
          <p:cNvPr id="24" name="Shape 22"/>
          <p:cNvSpPr/>
          <p:nvPr/>
        </p:nvSpPr>
        <p:spPr>
          <a:xfrm>
            <a:off x="502920" y="2889504"/>
            <a:ext cx="54864" cy="256032"/>
          </a:xfrm>
          <a:prstGeom prst="rect">
            <a:avLst/>
          </a:prstGeom>
          <a:solidFill>
            <a:srgbClr val="D97706"/>
          </a:solidFill>
          <a:ln w="12700">
            <a:solidFill>
              <a:srgbClr val="D97706"/>
            </a:solidFill>
            <a:prstDash val="solid"/>
          </a:ln>
        </p:spPr>
        <p:txBody>
          <a:bodyPr/>
          <a:lstStyle/>
          <a:p>
            <a:endParaRPr lang="fr-FR"/>
          </a:p>
        </p:txBody>
      </p:sp>
      <p:sp>
        <p:nvSpPr>
          <p:cNvPr id="25" name="Text 23"/>
          <p:cNvSpPr/>
          <p:nvPr/>
        </p:nvSpPr>
        <p:spPr>
          <a:xfrm>
            <a:off x="640080" y="2889504"/>
            <a:ext cx="3611880" cy="27432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Dataset de 1994 (Deutsche Marks) — patterns peuvent être obsolètes</a:t>
            </a:r>
            <a:endParaRPr lang="en-US" sz="1000" dirty="0"/>
          </a:p>
        </p:txBody>
      </p:sp>
      <p:sp>
        <p:nvSpPr>
          <p:cNvPr id="26" name="Shape 24"/>
          <p:cNvSpPr/>
          <p:nvPr/>
        </p:nvSpPr>
        <p:spPr>
          <a:xfrm>
            <a:off x="502920" y="3282696"/>
            <a:ext cx="54864" cy="256032"/>
          </a:xfrm>
          <a:prstGeom prst="rect">
            <a:avLst/>
          </a:prstGeom>
          <a:solidFill>
            <a:srgbClr val="D97706"/>
          </a:solidFill>
          <a:ln w="12700">
            <a:solidFill>
              <a:srgbClr val="D97706"/>
            </a:solidFill>
            <a:prstDash val="solid"/>
          </a:ln>
        </p:spPr>
        <p:txBody>
          <a:bodyPr/>
          <a:lstStyle/>
          <a:p>
            <a:endParaRPr lang="fr-FR"/>
          </a:p>
        </p:txBody>
      </p:sp>
      <p:sp>
        <p:nvSpPr>
          <p:cNvPr id="27" name="Text 25"/>
          <p:cNvSpPr/>
          <p:nvPr/>
        </p:nvSpPr>
        <p:spPr>
          <a:xfrm>
            <a:off x="640080" y="3282696"/>
            <a:ext cx="3611880" cy="27432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Reproduit les biais des décisions bancaires historiques</a:t>
            </a:r>
            <a:endParaRPr lang="en-US" sz="1000" dirty="0"/>
          </a:p>
        </p:txBody>
      </p:sp>
      <p:sp>
        <p:nvSpPr>
          <p:cNvPr id="28" name="Shape 26"/>
          <p:cNvSpPr/>
          <p:nvPr/>
        </p:nvSpPr>
        <p:spPr>
          <a:xfrm>
            <a:off x="502920" y="3675888"/>
            <a:ext cx="54864" cy="256032"/>
          </a:xfrm>
          <a:prstGeom prst="rect">
            <a:avLst/>
          </a:prstGeom>
          <a:solidFill>
            <a:srgbClr val="D97706"/>
          </a:solidFill>
          <a:ln w="12700">
            <a:solidFill>
              <a:srgbClr val="D97706"/>
            </a:solidFill>
            <a:prstDash val="solid"/>
          </a:ln>
        </p:spPr>
        <p:txBody>
          <a:bodyPr/>
          <a:lstStyle/>
          <a:p>
            <a:endParaRPr lang="fr-FR"/>
          </a:p>
        </p:txBody>
      </p:sp>
      <p:sp>
        <p:nvSpPr>
          <p:cNvPr id="29" name="Text 27"/>
          <p:cNvSpPr/>
          <p:nvPr/>
        </p:nvSpPr>
        <p:spPr>
          <a:xfrm>
            <a:off x="640080" y="3675888"/>
            <a:ext cx="3611880" cy="27432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LIME instable — résultats variables à chaque exécution</a:t>
            </a:r>
            <a:endParaRPr lang="en-US" sz="1000" dirty="0"/>
          </a:p>
        </p:txBody>
      </p:sp>
      <p:sp>
        <p:nvSpPr>
          <p:cNvPr id="30" name="Shape 28"/>
          <p:cNvSpPr/>
          <p:nvPr/>
        </p:nvSpPr>
        <p:spPr>
          <a:xfrm>
            <a:off x="502920" y="4069080"/>
            <a:ext cx="54864" cy="256032"/>
          </a:xfrm>
          <a:prstGeom prst="rect">
            <a:avLst/>
          </a:prstGeom>
          <a:solidFill>
            <a:srgbClr val="D97706"/>
          </a:solidFill>
          <a:ln w="12700">
            <a:solidFill>
              <a:srgbClr val="D97706"/>
            </a:solidFill>
            <a:prstDash val="solid"/>
          </a:ln>
        </p:spPr>
        <p:txBody>
          <a:bodyPr/>
          <a:lstStyle/>
          <a:p>
            <a:endParaRPr lang="fr-FR"/>
          </a:p>
        </p:txBody>
      </p:sp>
      <p:sp>
        <p:nvSpPr>
          <p:cNvPr id="31" name="Text 29"/>
          <p:cNvSpPr/>
          <p:nvPr/>
        </p:nvSpPr>
        <p:spPr>
          <a:xfrm>
            <a:off x="640080" y="4069080"/>
            <a:ext cx="3611880" cy="27432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Audit de biais limité à l'âge (pas de variable genre directe)</a:t>
            </a:r>
            <a:endParaRPr lang="en-US" sz="1000" dirty="0"/>
          </a:p>
        </p:txBody>
      </p:sp>
      <p:sp>
        <p:nvSpPr>
          <p:cNvPr id="32" name="Shape 30"/>
          <p:cNvSpPr/>
          <p:nvPr/>
        </p:nvSpPr>
        <p:spPr>
          <a:xfrm>
            <a:off x="4709160" y="2423160"/>
            <a:ext cx="4069080" cy="219456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fr-FR"/>
          </a:p>
        </p:txBody>
      </p:sp>
      <p:sp>
        <p:nvSpPr>
          <p:cNvPr id="33" name="Shape 31"/>
          <p:cNvSpPr/>
          <p:nvPr/>
        </p:nvSpPr>
        <p:spPr>
          <a:xfrm>
            <a:off x="4709160" y="2423160"/>
            <a:ext cx="4069080" cy="64008"/>
          </a:xfrm>
          <a:prstGeom prst="rect">
            <a:avLst/>
          </a:prstGeom>
          <a:solidFill>
            <a:srgbClr val="16A34A"/>
          </a:solidFill>
          <a:ln w="12700">
            <a:solidFill>
              <a:srgbClr val="16A34A"/>
            </a:solidFill>
            <a:prstDash val="solid"/>
          </a:ln>
        </p:spPr>
        <p:txBody>
          <a:bodyPr/>
          <a:lstStyle/>
          <a:p>
            <a:endParaRPr lang="fr-FR"/>
          </a:p>
        </p:txBody>
      </p:sp>
      <p:sp>
        <p:nvSpPr>
          <p:cNvPr id="34" name="Text 32"/>
          <p:cNvSpPr/>
          <p:nvPr/>
        </p:nvSpPr>
        <p:spPr>
          <a:xfrm>
            <a:off x="4846320" y="2523744"/>
            <a:ext cx="3749040" cy="292608"/>
          </a:xfrm>
          <a:prstGeom prst="rect">
            <a:avLst/>
          </a:prstGeom>
          <a:noFill/>
          <a:ln/>
        </p:spPr>
        <p:txBody>
          <a:bodyPr wrap="square" rtlCol="0" anchor="ctr"/>
          <a:lstStyle/>
          <a:p>
            <a:pPr marL="0" indent="0">
              <a:buNone/>
            </a:pPr>
            <a:r>
              <a:rPr lang="en-US" sz="1200" b="1" dirty="0">
                <a:solidFill>
                  <a:srgbClr val="16A34A"/>
                </a:solidFill>
                <a:latin typeface="Calibri" pitchFamily="34" charset="0"/>
                <a:ea typeface="Calibri" pitchFamily="34" charset="-122"/>
                <a:cs typeface="Calibri" pitchFamily="34" charset="-120"/>
              </a:rPr>
              <a:t>Perspectives</a:t>
            </a:r>
            <a:endParaRPr lang="en-US" sz="1200" dirty="0"/>
          </a:p>
        </p:txBody>
      </p:sp>
      <p:sp>
        <p:nvSpPr>
          <p:cNvPr id="35" name="Shape 33"/>
          <p:cNvSpPr/>
          <p:nvPr/>
        </p:nvSpPr>
        <p:spPr>
          <a:xfrm>
            <a:off x="4846320" y="2889504"/>
            <a:ext cx="54864" cy="256032"/>
          </a:xfrm>
          <a:prstGeom prst="rect">
            <a:avLst/>
          </a:prstGeom>
          <a:solidFill>
            <a:srgbClr val="16A34A"/>
          </a:solidFill>
          <a:ln w="12700">
            <a:solidFill>
              <a:srgbClr val="16A34A"/>
            </a:solidFill>
            <a:prstDash val="solid"/>
          </a:ln>
        </p:spPr>
        <p:txBody>
          <a:bodyPr/>
          <a:lstStyle/>
          <a:p>
            <a:endParaRPr lang="fr-FR"/>
          </a:p>
        </p:txBody>
      </p:sp>
      <p:sp>
        <p:nvSpPr>
          <p:cNvPr id="36" name="Text 34"/>
          <p:cNvSpPr/>
          <p:nvPr/>
        </p:nvSpPr>
        <p:spPr>
          <a:xfrm>
            <a:off x="4983480" y="2889504"/>
            <a:ext cx="3611880" cy="27432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Federated Learning — entraîner sans partager les données (RGPD)</a:t>
            </a:r>
            <a:endParaRPr lang="en-US" sz="1000" dirty="0"/>
          </a:p>
        </p:txBody>
      </p:sp>
      <p:sp>
        <p:nvSpPr>
          <p:cNvPr id="37" name="Shape 35"/>
          <p:cNvSpPr/>
          <p:nvPr/>
        </p:nvSpPr>
        <p:spPr>
          <a:xfrm>
            <a:off x="4846320" y="3282696"/>
            <a:ext cx="54864" cy="256032"/>
          </a:xfrm>
          <a:prstGeom prst="rect">
            <a:avLst/>
          </a:prstGeom>
          <a:solidFill>
            <a:srgbClr val="16A34A"/>
          </a:solidFill>
          <a:ln w="12700">
            <a:solidFill>
              <a:srgbClr val="16A34A"/>
            </a:solidFill>
            <a:prstDash val="solid"/>
          </a:ln>
        </p:spPr>
        <p:txBody>
          <a:bodyPr/>
          <a:lstStyle/>
          <a:p>
            <a:endParaRPr lang="fr-FR"/>
          </a:p>
        </p:txBody>
      </p:sp>
      <p:sp>
        <p:nvSpPr>
          <p:cNvPr id="38" name="Text 36"/>
          <p:cNvSpPr/>
          <p:nvPr/>
        </p:nvSpPr>
        <p:spPr>
          <a:xfrm>
            <a:off x="4983480" y="3282696"/>
            <a:ext cx="3611880" cy="27432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Calibration des probabilités — Platt scaling</a:t>
            </a:r>
            <a:endParaRPr lang="en-US" sz="1000" dirty="0"/>
          </a:p>
        </p:txBody>
      </p:sp>
      <p:sp>
        <p:nvSpPr>
          <p:cNvPr id="39" name="Shape 37"/>
          <p:cNvSpPr/>
          <p:nvPr/>
        </p:nvSpPr>
        <p:spPr>
          <a:xfrm>
            <a:off x="4846320" y="3675888"/>
            <a:ext cx="54864" cy="256032"/>
          </a:xfrm>
          <a:prstGeom prst="rect">
            <a:avLst/>
          </a:prstGeom>
          <a:solidFill>
            <a:srgbClr val="16A34A"/>
          </a:solidFill>
          <a:ln w="12700">
            <a:solidFill>
              <a:srgbClr val="16A34A"/>
            </a:solidFill>
            <a:prstDash val="solid"/>
          </a:ln>
        </p:spPr>
        <p:txBody>
          <a:bodyPr/>
          <a:lstStyle/>
          <a:p>
            <a:endParaRPr lang="fr-FR"/>
          </a:p>
        </p:txBody>
      </p:sp>
      <p:sp>
        <p:nvSpPr>
          <p:cNvPr id="40" name="Text 38"/>
          <p:cNvSpPr/>
          <p:nvPr/>
        </p:nvSpPr>
        <p:spPr>
          <a:xfrm>
            <a:off x="4983480" y="3675888"/>
            <a:ext cx="3611880" cy="27432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Monitoring en production — détecter le data drift</a:t>
            </a:r>
            <a:endParaRPr lang="en-US" sz="1000" dirty="0"/>
          </a:p>
        </p:txBody>
      </p:sp>
      <p:sp>
        <p:nvSpPr>
          <p:cNvPr id="41" name="Shape 39"/>
          <p:cNvSpPr/>
          <p:nvPr/>
        </p:nvSpPr>
        <p:spPr>
          <a:xfrm>
            <a:off x="4846320" y="4069080"/>
            <a:ext cx="54864" cy="256032"/>
          </a:xfrm>
          <a:prstGeom prst="rect">
            <a:avLst/>
          </a:prstGeom>
          <a:solidFill>
            <a:srgbClr val="16A34A"/>
          </a:solidFill>
          <a:ln w="12700">
            <a:solidFill>
              <a:srgbClr val="16A34A"/>
            </a:solidFill>
            <a:prstDash val="solid"/>
          </a:ln>
        </p:spPr>
        <p:txBody>
          <a:bodyPr/>
          <a:lstStyle/>
          <a:p>
            <a:endParaRPr lang="fr-FR"/>
          </a:p>
        </p:txBody>
      </p:sp>
      <p:sp>
        <p:nvSpPr>
          <p:cNvPr id="42" name="Text 40"/>
          <p:cNvSpPr/>
          <p:nvPr/>
        </p:nvSpPr>
        <p:spPr>
          <a:xfrm>
            <a:off x="4983480" y="4069080"/>
            <a:ext cx="3611880" cy="274320"/>
          </a:xfrm>
          <a:prstGeom prst="rect">
            <a:avLst/>
          </a:prstGeom>
          <a:noFill/>
          <a:ln/>
        </p:spPr>
        <p:txBody>
          <a:bodyPr wrap="square" lIns="0" tIns="0" rIns="0" bIns="0" rtlCol="0" anchor="ctr"/>
          <a:lstStyle/>
          <a:p>
            <a:pPr marL="0" indent="0">
              <a:buNone/>
            </a:pPr>
            <a:r>
              <a:rPr lang="en-US" sz="1000" dirty="0">
                <a:solidFill>
                  <a:srgbClr val="374151"/>
                </a:solidFill>
                <a:latin typeface="Calibri" pitchFamily="34" charset="0"/>
                <a:ea typeface="Calibri" pitchFamily="34" charset="-122"/>
                <a:cs typeface="Calibri" pitchFamily="34" charset="-120"/>
              </a:rPr>
              <a:t>Open Banking — enrichir avec données de transactions réelles</a:t>
            </a:r>
            <a:endParaRPr lang="en-US" sz="1000" dirty="0"/>
          </a:p>
        </p:txBody>
      </p:sp>
      <p:sp>
        <p:nvSpPr>
          <p:cNvPr id="43" name="Shape 41"/>
          <p:cNvSpPr/>
          <p:nvPr/>
        </p:nvSpPr>
        <p:spPr>
          <a:xfrm>
            <a:off x="0" y="4892040"/>
            <a:ext cx="9144000" cy="251460"/>
          </a:xfrm>
          <a:prstGeom prst="rect">
            <a:avLst/>
          </a:prstGeom>
          <a:solidFill>
            <a:srgbClr val="0A1A30"/>
          </a:solidFill>
          <a:ln w="12700">
            <a:solidFill>
              <a:srgbClr val="0A1A30"/>
            </a:solidFill>
            <a:prstDash val="solid"/>
          </a:ln>
        </p:spPr>
        <p:txBody>
          <a:bodyPr/>
          <a:lstStyle/>
          <a:p>
            <a:endParaRPr lang="fr-FR"/>
          </a:p>
        </p:txBody>
      </p:sp>
      <p:sp>
        <p:nvSpPr>
          <p:cNvPr id="44" name="Text 42"/>
          <p:cNvSpPr/>
          <p:nvPr/>
        </p:nvSpPr>
        <p:spPr>
          <a:xfrm>
            <a:off x="320040" y="4901184"/>
            <a:ext cx="6400800" cy="228600"/>
          </a:xfrm>
          <a:prstGeom prst="rect">
            <a:avLst/>
          </a:prstGeom>
          <a:noFill/>
          <a:ln/>
        </p:spPr>
        <p:txBody>
          <a:bodyPr wrap="square" rtlCol="0" anchor="ctr"/>
          <a:lstStyle/>
          <a:p>
            <a:pPr marL="0" indent="0">
              <a:buNone/>
            </a:pPr>
            <a:r>
              <a:rPr lang="en-US" sz="800" dirty="0">
                <a:solidFill>
                  <a:srgbClr val="94A3B8"/>
                </a:solidFill>
                <a:latin typeface="Calibri" pitchFamily="34" charset="0"/>
                <a:ea typeface="Calibri" pitchFamily="34" charset="-122"/>
                <a:cs typeface="Calibri" pitchFamily="34" charset="-120"/>
              </a:rPr>
              <a:t>Robin Lamy  ·  ECE Paris ING4 Finance IA  ·  2026</a:t>
            </a:r>
            <a:endParaRPr lang="en-US" sz="800" dirty="0"/>
          </a:p>
        </p:txBody>
      </p:sp>
      <p:sp>
        <p:nvSpPr>
          <p:cNvPr id="45" name="Text 43"/>
          <p:cNvSpPr/>
          <p:nvPr/>
        </p:nvSpPr>
        <p:spPr>
          <a:xfrm>
            <a:off x="8229600" y="4901184"/>
            <a:ext cx="640080" cy="228600"/>
          </a:xfrm>
          <a:prstGeom prst="rect">
            <a:avLst/>
          </a:prstGeom>
          <a:noFill/>
          <a:ln/>
        </p:spPr>
        <p:txBody>
          <a:bodyPr wrap="square" rtlCol="0" anchor="ctr"/>
          <a:lstStyle/>
          <a:p>
            <a:pPr marL="0" indent="0" algn="r">
              <a:buNone/>
            </a:pPr>
            <a:r>
              <a:rPr lang="en-US" sz="800" dirty="0">
                <a:solidFill>
                  <a:srgbClr val="94A3B8"/>
                </a:solidFill>
                <a:latin typeface="Calibri" pitchFamily="34" charset="0"/>
                <a:ea typeface="Calibri" pitchFamily="34" charset="-122"/>
                <a:cs typeface="Calibri" pitchFamily="34" charset="-120"/>
              </a:rPr>
              <a:t>11 / 12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44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563EB"/>
          </a:solidFill>
          <a:ln w="12700">
            <a:solidFill>
              <a:srgbClr val="2563EB"/>
            </a:solidFill>
            <a:prstDash val="solid"/>
          </a:ln>
        </p:spPr>
        <p:txBody>
          <a:bodyPr/>
          <a:lstStyle/>
          <a:p>
            <a:endParaRPr lang="fr-FR"/>
          </a:p>
        </p:txBody>
      </p:sp>
      <p:sp>
        <p:nvSpPr>
          <p:cNvPr id="3" name="Text 1"/>
          <p:cNvSpPr/>
          <p:nvPr/>
        </p:nvSpPr>
        <p:spPr>
          <a:xfrm>
            <a:off x="457200" y="640080"/>
            <a:ext cx="8229600" cy="320040"/>
          </a:xfrm>
          <a:prstGeom prst="rect">
            <a:avLst/>
          </a:prstGeom>
          <a:noFill/>
          <a:ln/>
        </p:spPr>
        <p:txBody>
          <a:bodyPr wrap="square" rtlCol="0" anchor="ctr"/>
          <a:lstStyle/>
          <a:p>
            <a:pPr marL="0" indent="0">
              <a:buNone/>
            </a:pPr>
            <a:r>
              <a:rPr lang="en-US" sz="900" b="1" kern="0" spc="300" dirty="0">
                <a:solidFill>
                  <a:srgbClr val="BFDBFE"/>
                </a:solidFill>
                <a:latin typeface="Calibri" pitchFamily="34" charset="0"/>
                <a:ea typeface="Calibri" pitchFamily="34" charset="-122"/>
                <a:cs typeface="Calibri" pitchFamily="34" charset="-120"/>
              </a:rPr>
              <a:t>CONCLUSION</a:t>
            </a:r>
            <a:endParaRPr lang="en-US" sz="900" dirty="0"/>
          </a:p>
        </p:txBody>
      </p:sp>
      <p:sp>
        <p:nvSpPr>
          <p:cNvPr id="4" name="Text 2"/>
          <p:cNvSpPr/>
          <p:nvPr/>
        </p:nvSpPr>
        <p:spPr>
          <a:xfrm>
            <a:off x="457200" y="1051560"/>
            <a:ext cx="8229600" cy="594360"/>
          </a:xfrm>
          <a:prstGeom prst="rect">
            <a:avLst/>
          </a:prstGeom>
          <a:noFill/>
          <a:ln/>
        </p:spPr>
        <p:txBody>
          <a:bodyPr wrap="square" rtlCol="0" anchor="ctr"/>
          <a:lstStyle/>
          <a:p>
            <a:pPr marL="0" indent="0">
              <a:buNone/>
            </a:pPr>
            <a:r>
              <a:rPr lang="en-US" sz="3400" b="1" dirty="0">
                <a:solidFill>
                  <a:srgbClr val="FFFFFF"/>
                </a:solidFill>
                <a:latin typeface="Calibri Light" pitchFamily="34" charset="0"/>
                <a:ea typeface="Calibri Light" pitchFamily="34" charset="-122"/>
                <a:cs typeface="Calibri Light" pitchFamily="34" charset="-120"/>
              </a:rPr>
              <a:t>Le message central</a:t>
            </a:r>
            <a:endParaRPr lang="en-US" sz="3400" dirty="0"/>
          </a:p>
        </p:txBody>
      </p:sp>
      <p:sp>
        <p:nvSpPr>
          <p:cNvPr id="5" name="Shape 3"/>
          <p:cNvSpPr/>
          <p:nvPr/>
        </p:nvSpPr>
        <p:spPr>
          <a:xfrm>
            <a:off x="457200" y="1737360"/>
            <a:ext cx="2560320" cy="36576"/>
          </a:xfrm>
          <a:prstGeom prst="rect">
            <a:avLst/>
          </a:prstGeom>
          <a:solidFill>
            <a:srgbClr val="2563EB"/>
          </a:solidFill>
          <a:ln w="12700">
            <a:solidFill>
              <a:srgbClr val="2563EB"/>
            </a:solidFill>
            <a:prstDash val="solid"/>
          </a:ln>
        </p:spPr>
        <p:txBody>
          <a:bodyPr/>
          <a:lstStyle/>
          <a:p>
            <a:endParaRPr lang="fr-FR"/>
          </a:p>
        </p:txBody>
      </p:sp>
      <p:sp>
        <p:nvSpPr>
          <p:cNvPr id="6" name="Text 4"/>
          <p:cNvSpPr/>
          <p:nvPr/>
        </p:nvSpPr>
        <p:spPr>
          <a:xfrm>
            <a:off x="457200" y="1920240"/>
            <a:ext cx="8229600" cy="1097280"/>
          </a:xfrm>
          <a:prstGeom prst="rect">
            <a:avLst/>
          </a:prstGeom>
          <a:noFill/>
          <a:ln/>
        </p:spPr>
        <p:txBody>
          <a:bodyPr wrap="square" rtlCol="0" anchor="ctr"/>
          <a:lstStyle/>
          <a:p>
            <a:pPr marL="0" indent="0">
              <a:buNone/>
            </a:pPr>
            <a:r>
              <a:rPr lang="en-US" sz="1350" dirty="0">
                <a:solidFill>
                  <a:srgbClr val="94A3B8"/>
                </a:solidFill>
                <a:latin typeface="Calibri" pitchFamily="34" charset="0"/>
                <a:ea typeface="Calibri" pitchFamily="34" charset="-122"/>
                <a:cs typeface="Calibri" pitchFamily="34" charset="-120"/>
              </a:rPr>
              <a:t>XGBoost offre les </a:t>
            </a:r>
            <a:r>
              <a:rPr lang="en-US" sz="1350" dirty="0" err="1">
                <a:solidFill>
                  <a:srgbClr val="94A3B8"/>
                </a:solidFill>
                <a:latin typeface="Calibri" pitchFamily="34" charset="0"/>
                <a:ea typeface="Calibri" pitchFamily="34" charset="-122"/>
                <a:cs typeface="Calibri" pitchFamily="34" charset="-120"/>
              </a:rPr>
              <a:t>meilleures</a:t>
            </a:r>
            <a:r>
              <a:rPr lang="en-US" sz="1350" dirty="0">
                <a:solidFill>
                  <a:srgbClr val="94A3B8"/>
                </a:solidFill>
                <a:latin typeface="Calibri" pitchFamily="34" charset="0"/>
                <a:ea typeface="Calibri" pitchFamily="34" charset="-122"/>
                <a:cs typeface="Calibri" pitchFamily="34" charset="-120"/>
              </a:rPr>
              <a:t> performances, </a:t>
            </a:r>
            <a:r>
              <a:rPr lang="en-US" sz="1350" dirty="0" err="1">
                <a:solidFill>
                  <a:srgbClr val="94A3B8"/>
                </a:solidFill>
                <a:latin typeface="Calibri" pitchFamily="34" charset="0"/>
                <a:ea typeface="Calibri" pitchFamily="34" charset="-122"/>
                <a:cs typeface="Calibri" pitchFamily="34" charset="-120"/>
              </a:rPr>
              <a:t>mais</a:t>
            </a:r>
            <a:r>
              <a:rPr lang="en-US" sz="1350" dirty="0">
                <a:solidFill>
                  <a:srgbClr val="94A3B8"/>
                </a:solidFill>
                <a:latin typeface="Calibri" pitchFamily="34" charset="0"/>
                <a:ea typeface="Calibri" pitchFamily="34" charset="-122"/>
                <a:cs typeface="Calibri" pitchFamily="34" charset="-120"/>
              </a:rPr>
              <a:t> c'est une boîte noire. Le XAI (SHAP, LIME, DiCE) permet de l'expliquer pour chaque décision individuelle, en conformité avec le RGPD Art. 22. L'audit Fairlearn révèle un biais modéré sur les jeunes clients, </a:t>
            </a:r>
            <a:r>
              <a:rPr lang="en-US" sz="1350" dirty="0" err="1">
                <a:solidFill>
                  <a:srgbClr val="94A3B8"/>
                </a:solidFill>
                <a:latin typeface="Calibri" pitchFamily="34" charset="0"/>
                <a:ea typeface="Calibri" pitchFamily="34" charset="-122"/>
                <a:cs typeface="Calibri" pitchFamily="34" charset="-120"/>
              </a:rPr>
              <a:t>exactement</a:t>
            </a:r>
            <a:r>
              <a:rPr lang="en-US" sz="1350" dirty="0">
                <a:solidFill>
                  <a:srgbClr val="94A3B8"/>
                </a:solidFill>
                <a:latin typeface="Calibri" pitchFamily="34" charset="0"/>
                <a:ea typeface="Calibri" pitchFamily="34" charset="-122"/>
                <a:cs typeface="Calibri" pitchFamily="34" charset="-120"/>
              </a:rPr>
              <a:t> ce que l'AI Act européen demande de détecter avant tout déploiement en production.</a:t>
            </a:r>
            <a:endParaRPr lang="en-US" sz="1350" dirty="0"/>
          </a:p>
        </p:txBody>
      </p:sp>
      <p:sp>
        <p:nvSpPr>
          <p:cNvPr id="7" name="Shape 5"/>
          <p:cNvSpPr/>
          <p:nvPr/>
        </p:nvSpPr>
        <p:spPr>
          <a:xfrm>
            <a:off x="457200" y="3246120"/>
            <a:ext cx="2697480" cy="1188720"/>
          </a:xfrm>
          <a:prstGeom prst="rect">
            <a:avLst/>
          </a:prstGeom>
          <a:solidFill>
            <a:srgbClr val="0A1A30"/>
          </a:solidFill>
          <a:ln w="12700">
            <a:solidFill>
              <a:srgbClr val="1E3A5F"/>
            </a:solidFill>
            <a:prstDash val="solid"/>
          </a:ln>
        </p:spPr>
        <p:txBody>
          <a:bodyPr/>
          <a:lstStyle/>
          <a:p>
            <a:endParaRPr lang="fr-FR"/>
          </a:p>
        </p:txBody>
      </p:sp>
      <p:sp>
        <p:nvSpPr>
          <p:cNvPr id="8" name="Shape 6"/>
          <p:cNvSpPr/>
          <p:nvPr/>
        </p:nvSpPr>
        <p:spPr>
          <a:xfrm>
            <a:off x="457200" y="3246120"/>
            <a:ext cx="2697480" cy="64008"/>
          </a:xfrm>
          <a:prstGeom prst="rect">
            <a:avLst/>
          </a:prstGeom>
          <a:solidFill>
            <a:srgbClr val="2563EB"/>
          </a:solidFill>
          <a:ln w="12700">
            <a:solidFill>
              <a:srgbClr val="2563EB"/>
            </a:solidFill>
            <a:prstDash val="solid"/>
          </a:ln>
        </p:spPr>
        <p:txBody>
          <a:bodyPr/>
          <a:lstStyle/>
          <a:p>
            <a:endParaRPr lang="fr-FR"/>
          </a:p>
        </p:txBody>
      </p:sp>
      <p:sp>
        <p:nvSpPr>
          <p:cNvPr id="9" name="Text 7"/>
          <p:cNvSpPr/>
          <p:nvPr/>
        </p:nvSpPr>
        <p:spPr>
          <a:xfrm>
            <a:off x="594360" y="3355848"/>
            <a:ext cx="2423160" cy="34747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Performance</a:t>
            </a:r>
            <a:endParaRPr lang="en-US" sz="1400" dirty="0"/>
          </a:p>
        </p:txBody>
      </p:sp>
      <p:sp>
        <p:nvSpPr>
          <p:cNvPr id="10" name="Text 8"/>
          <p:cNvSpPr/>
          <p:nvPr/>
        </p:nvSpPr>
        <p:spPr>
          <a:xfrm>
            <a:off x="594360" y="3730752"/>
            <a:ext cx="2423160" cy="50292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AUC 0.765 — AUPRC 0.874</a:t>
            </a:r>
            <a:endParaRPr lang="en-US" sz="1100" dirty="0"/>
          </a:p>
        </p:txBody>
      </p:sp>
      <p:sp>
        <p:nvSpPr>
          <p:cNvPr id="11" name="Shape 9"/>
          <p:cNvSpPr/>
          <p:nvPr/>
        </p:nvSpPr>
        <p:spPr>
          <a:xfrm>
            <a:off x="3383280" y="3246120"/>
            <a:ext cx="2697480" cy="1188720"/>
          </a:xfrm>
          <a:prstGeom prst="rect">
            <a:avLst/>
          </a:prstGeom>
          <a:solidFill>
            <a:srgbClr val="0A1A30"/>
          </a:solidFill>
          <a:ln w="12700">
            <a:solidFill>
              <a:srgbClr val="1E3A5F"/>
            </a:solidFill>
            <a:prstDash val="solid"/>
          </a:ln>
        </p:spPr>
        <p:txBody>
          <a:bodyPr/>
          <a:lstStyle/>
          <a:p>
            <a:endParaRPr lang="fr-FR"/>
          </a:p>
        </p:txBody>
      </p:sp>
      <p:sp>
        <p:nvSpPr>
          <p:cNvPr id="12" name="Shape 10"/>
          <p:cNvSpPr/>
          <p:nvPr/>
        </p:nvSpPr>
        <p:spPr>
          <a:xfrm>
            <a:off x="3383280" y="3246120"/>
            <a:ext cx="2697480" cy="64008"/>
          </a:xfrm>
          <a:prstGeom prst="rect">
            <a:avLst/>
          </a:prstGeom>
          <a:solidFill>
            <a:srgbClr val="BFDBFE"/>
          </a:solidFill>
          <a:ln w="12700">
            <a:solidFill>
              <a:srgbClr val="BFDBFE"/>
            </a:solidFill>
            <a:prstDash val="solid"/>
          </a:ln>
        </p:spPr>
        <p:txBody>
          <a:bodyPr/>
          <a:lstStyle/>
          <a:p>
            <a:endParaRPr lang="fr-FR"/>
          </a:p>
        </p:txBody>
      </p:sp>
      <p:sp>
        <p:nvSpPr>
          <p:cNvPr id="13" name="Text 11"/>
          <p:cNvSpPr/>
          <p:nvPr/>
        </p:nvSpPr>
        <p:spPr>
          <a:xfrm>
            <a:off x="3520440" y="3355848"/>
            <a:ext cx="2423160" cy="34747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Explicabilité</a:t>
            </a:r>
            <a:endParaRPr lang="en-US" sz="1400" dirty="0"/>
          </a:p>
        </p:txBody>
      </p:sp>
      <p:sp>
        <p:nvSpPr>
          <p:cNvPr id="14" name="Text 12"/>
          <p:cNvSpPr/>
          <p:nvPr/>
        </p:nvSpPr>
        <p:spPr>
          <a:xfrm>
            <a:off x="3520440" y="3730752"/>
            <a:ext cx="2423160" cy="50292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SHAP + LIME + DiCE</a:t>
            </a:r>
            <a:endParaRPr lang="en-US" sz="1100" dirty="0"/>
          </a:p>
        </p:txBody>
      </p:sp>
      <p:sp>
        <p:nvSpPr>
          <p:cNvPr id="15" name="Shape 13"/>
          <p:cNvSpPr/>
          <p:nvPr/>
        </p:nvSpPr>
        <p:spPr>
          <a:xfrm>
            <a:off x="6309360" y="3246120"/>
            <a:ext cx="2697480" cy="1188720"/>
          </a:xfrm>
          <a:prstGeom prst="rect">
            <a:avLst/>
          </a:prstGeom>
          <a:solidFill>
            <a:srgbClr val="0A1A30"/>
          </a:solidFill>
          <a:ln w="12700">
            <a:solidFill>
              <a:srgbClr val="1E3A5F"/>
            </a:solidFill>
            <a:prstDash val="solid"/>
          </a:ln>
        </p:spPr>
        <p:txBody>
          <a:bodyPr/>
          <a:lstStyle/>
          <a:p>
            <a:endParaRPr lang="fr-FR"/>
          </a:p>
        </p:txBody>
      </p:sp>
      <p:sp>
        <p:nvSpPr>
          <p:cNvPr id="16" name="Shape 14"/>
          <p:cNvSpPr/>
          <p:nvPr/>
        </p:nvSpPr>
        <p:spPr>
          <a:xfrm>
            <a:off x="6309360" y="3246120"/>
            <a:ext cx="2697480" cy="64008"/>
          </a:xfrm>
          <a:prstGeom prst="rect">
            <a:avLst/>
          </a:prstGeom>
          <a:solidFill>
            <a:srgbClr val="D97706"/>
          </a:solidFill>
          <a:ln w="12700">
            <a:solidFill>
              <a:srgbClr val="D97706"/>
            </a:solidFill>
            <a:prstDash val="solid"/>
          </a:ln>
        </p:spPr>
        <p:txBody>
          <a:bodyPr/>
          <a:lstStyle/>
          <a:p>
            <a:endParaRPr lang="fr-FR"/>
          </a:p>
        </p:txBody>
      </p:sp>
      <p:sp>
        <p:nvSpPr>
          <p:cNvPr id="17" name="Text 15"/>
          <p:cNvSpPr/>
          <p:nvPr/>
        </p:nvSpPr>
        <p:spPr>
          <a:xfrm>
            <a:off x="6446520" y="3355848"/>
            <a:ext cx="2423160" cy="34747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Équité</a:t>
            </a:r>
            <a:endParaRPr lang="en-US" sz="1400" dirty="0"/>
          </a:p>
        </p:txBody>
      </p:sp>
      <p:sp>
        <p:nvSpPr>
          <p:cNvPr id="18" name="Text 16"/>
          <p:cNvSpPr/>
          <p:nvPr/>
        </p:nvSpPr>
        <p:spPr>
          <a:xfrm>
            <a:off x="6446520" y="3730752"/>
            <a:ext cx="2423160" cy="502920"/>
          </a:xfrm>
          <a:prstGeom prst="rect">
            <a:avLst/>
          </a:prstGeom>
          <a:noFill/>
          <a:ln/>
        </p:spPr>
        <p:txBody>
          <a:bodyPr wrap="square" rtlCol="0" anchor="ctr"/>
          <a:lstStyle/>
          <a:p>
            <a:pPr marL="0" indent="0">
              <a:buNone/>
            </a:pPr>
            <a:r>
              <a:rPr lang="en-US" sz="1100" dirty="0">
                <a:solidFill>
                  <a:srgbClr val="94A3B8"/>
                </a:solidFill>
                <a:latin typeface="Calibri" pitchFamily="34" charset="0"/>
                <a:ea typeface="Calibri" pitchFamily="34" charset="-122"/>
                <a:cs typeface="Calibri" pitchFamily="34" charset="-120"/>
              </a:rPr>
              <a:t>Audit Fairlearn — biais détecté</a:t>
            </a:r>
            <a:endParaRPr lang="en-US" sz="1100" dirty="0"/>
          </a:p>
        </p:txBody>
      </p:sp>
      <p:sp>
        <p:nvSpPr>
          <p:cNvPr id="19" name="Text 17"/>
          <p:cNvSpPr/>
          <p:nvPr/>
        </p:nvSpPr>
        <p:spPr>
          <a:xfrm>
            <a:off x="457200" y="4663440"/>
            <a:ext cx="8229600" cy="256032"/>
          </a:xfrm>
          <a:prstGeom prst="rect">
            <a:avLst/>
          </a:prstGeom>
          <a:noFill/>
          <a:ln/>
        </p:spPr>
        <p:txBody>
          <a:bodyPr wrap="square" rtlCol="0" anchor="ctr"/>
          <a:lstStyle/>
          <a:p>
            <a:pPr marL="0" indent="0" algn="ctr">
              <a:buNone/>
            </a:pPr>
            <a:r>
              <a:rPr lang="en-US" sz="900" dirty="0">
                <a:solidFill>
                  <a:srgbClr val="475569"/>
                </a:solidFill>
                <a:latin typeface="Calibri" pitchFamily="34" charset="0"/>
                <a:ea typeface="Calibri" pitchFamily="34" charset="-122"/>
                <a:cs typeface="Calibri" pitchFamily="34" charset="-120"/>
              </a:rPr>
              <a:t>Robin Lamy  ·  ING4 Finance IA  ·  ECE Paris  ·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1184</TotalTime>
  <Words>1238</Words>
  <Application>Microsoft Office PowerPoint</Application>
  <PresentationFormat>Affichage à l'écran (16:9)</PresentationFormat>
  <Paragraphs>243</Paragraphs>
  <Slides>12</Slides>
  <Notes>12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12</vt:i4>
      </vt:variant>
    </vt:vector>
  </HeadingPairs>
  <TitlesOfParts>
    <vt:vector size="17" baseType="lpstr">
      <vt:lpstr>Arial</vt:lpstr>
      <vt:lpstr>Calibri</vt:lpstr>
      <vt:lpstr>Calibri Light</vt:lpstr>
      <vt:lpstr>Consolas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Scoring avec IA Explicable (XAI)</dc:title>
  <dc:subject>PptxGenJS Presentation</dc:subject>
  <dc:creator>Robin Lamy</dc:creator>
  <cp:lastModifiedBy>Robin Lamy</cp:lastModifiedBy>
  <cp:revision>2</cp:revision>
  <dcterms:created xsi:type="dcterms:W3CDTF">2026-03-23T09:54:17Z</dcterms:created>
  <dcterms:modified xsi:type="dcterms:W3CDTF">2026-03-28T13:25:02Z</dcterms:modified>
</cp:coreProperties>
</file>